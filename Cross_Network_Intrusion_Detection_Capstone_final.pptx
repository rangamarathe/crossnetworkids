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5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6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796c6aa843437c" /><Relationship Type="http://schemas.openxmlformats.org/officeDocument/2006/relationships/extended-properties" Target="/docProps/app.xml" Id="R80dc6f8aaa8a4d86" /><Relationship Type="http://schemas.openxmlformats.org/officeDocument/2006/relationships/officeDocument" Target="/ppt/presentation.xml" Id="R563967ab74df4e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f5ac6985174179"/>
  </p:sldMasterIdLst>
  <p:notesMasterIdLst>
    <p:notesMasterId xmlns:r="http://schemas.openxmlformats.org/officeDocument/2006/relationships" r:id="R345b6d2d6ec84060"/>
  </p:notesMasterIdLst>
  <p:sldIdLst>
    <p:sldId xmlns:r="http://schemas.openxmlformats.org/officeDocument/2006/relationships" id="256" r:id="R1e82b86493b44299"/>
    <p:sldId xmlns:r="http://schemas.openxmlformats.org/officeDocument/2006/relationships" id="257" r:id="R142a8a6ace814c18"/>
    <p:sldId xmlns:r="http://schemas.openxmlformats.org/officeDocument/2006/relationships" id="258" r:id="R2cf81fc5e3b04e6f"/>
    <p:sldId xmlns:r="http://schemas.openxmlformats.org/officeDocument/2006/relationships" id="259" r:id="Rf70e461aeb734877"/>
    <p:sldId xmlns:r="http://schemas.openxmlformats.org/officeDocument/2006/relationships" id="260" r:id="Reddf56a4069e411a"/>
    <p:sldId xmlns:r="http://schemas.openxmlformats.org/officeDocument/2006/relationships" id="261" r:id="R1ae3353ccae346fc"/>
    <p:sldId xmlns:r="http://schemas.openxmlformats.org/officeDocument/2006/relationships" id="262" r:id="R310e96ee1fc240aa"/>
    <p:sldId xmlns:r="http://schemas.openxmlformats.org/officeDocument/2006/relationships" id="263" r:id="R0d1563cb09f54cc4"/>
    <p:sldId xmlns:r="http://schemas.openxmlformats.org/officeDocument/2006/relationships" id="264" r:id="R5157bce683d64043"/>
    <p:sldId xmlns:r="http://schemas.openxmlformats.org/officeDocument/2006/relationships" id="265" r:id="R91022496939e4d84"/>
    <p:sldId xmlns:r="http://schemas.openxmlformats.org/officeDocument/2006/relationships" id="266" r:id="R5d85bebbe0424877"/>
    <p:sldId xmlns:r="http://schemas.openxmlformats.org/officeDocument/2006/relationships" id="267" r:id="R354488cd4afe4f6f"/>
    <p:sldId xmlns:r="http://schemas.openxmlformats.org/officeDocument/2006/relationships" id="268" r:id="R0652c9eb6ff843cc"/>
    <p:sldId xmlns:r="http://schemas.openxmlformats.org/officeDocument/2006/relationships" id="269" r:id="R239e124a48ce46d3"/>
    <p:sldId xmlns:r="http://schemas.openxmlformats.org/officeDocument/2006/relationships" id="270" r:id="R9fd900567d9e413b"/>
    <p:sldId xmlns:r="http://schemas.openxmlformats.org/officeDocument/2006/relationships" id="271" r:id="R84cd5ee0041a4688"/>
    <p:sldId xmlns:r="http://schemas.openxmlformats.org/officeDocument/2006/relationships" id="272" r:id="Ra630866ea97c4334"/>
    <p:sldId xmlns:r="http://schemas.openxmlformats.org/officeDocument/2006/relationships" id="273" r:id="Ra1a0688d57f94a05"/>
    <p:sldId xmlns:r="http://schemas.openxmlformats.org/officeDocument/2006/relationships" id="274" r:id="R9597963f3d49480b"/>
    <p:sldId xmlns:r="http://schemas.openxmlformats.org/officeDocument/2006/relationships" id="275" r:id="Re3be77134dbd4c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0dbdd49864457e" /><Relationship Type="http://schemas.openxmlformats.org/officeDocument/2006/relationships/slideMaster" Target="/ppt/slideMasters/slideMaster1.xml" Id="R94f5ac6985174179" /><Relationship Type="http://schemas.openxmlformats.org/officeDocument/2006/relationships/notesMaster" Target="/ppt/notesMasters/notesMaster1.xml" Id="R345b6d2d6ec84060" /><Relationship Type="http://schemas.openxmlformats.org/officeDocument/2006/relationships/presProps" Target="/ppt/presProps.xml" Id="Rf1f27f520972481f" /><Relationship Type="http://schemas.openxmlformats.org/officeDocument/2006/relationships/tableStyles" Target="/ppt/tableStyles.xml" Id="R6f0516767c4347ba" /><Relationship Type="http://schemas.openxmlformats.org/officeDocument/2006/relationships/slide" Target="/ppt/slides/slide1.xml" Id="R1e82b86493b44299" /><Relationship Type="http://schemas.openxmlformats.org/officeDocument/2006/relationships/slide" Target="/ppt/slides/slide2.xml" Id="R142a8a6ace814c18" /><Relationship Type="http://schemas.openxmlformats.org/officeDocument/2006/relationships/slide" Target="/ppt/slides/slide3.xml" Id="R2cf81fc5e3b04e6f" /><Relationship Type="http://schemas.openxmlformats.org/officeDocument/2006/relationships/slide" Target="/ppt/slides/slide4.xml" Id="Rf70e461aeb734877" /><Relationship Type="http://schemas.openxmlformats.org/officeDocument/2006/relationships/slide" Target="/ppt/slides/slide5.xml" Id="Reddf56a4069e411a" /><Relationship Type="http://schemas.openxmlformats.org/officeDocument/2006/relationships/slide" Target="/ppt/slides/slide6.xml" Id="R1ae3353ccae346fc" /><Relationship Type="http://schemas.openxmlformats.org/officeDocument/2006/relationships/slide" Target="/ppt/slides/slide7.xml" Id="R310e96ee1fc240aa" /><Relationship Type="http://schemas.openxmlformats.org/officeDocument/2006/relationships/slide" Target="/ppt/slides/slide8.xml" Id="R0d1563cb09f54cc4" /><Relationship Type="http://schemas.openxmlformats.org/officeDocument/2006/relationships/slide" Target="/ppt/slides/slide9.xml" Id="R5157bce683d64043" /><Relationship Type="http://schemas.openxmlformats.org/officeDocument/2006/relationships/slide" Target="/ppt/slides/slide10.xml" Id="R91022496939e4d84" /><Relationship Type="http://schemas.openxmlformats.org/officeDocument/2006/relationships/slide" Target="/ppt/slides/slide11.xml" Id="R5d85bebbe0424877" /><Relationship Type="http://schemas.openxmlformats.org/officeDocument/2006/relationships/slide" Target="/ppt/slides/slide12.xml" Id="R354488cd4afe4f6f" /><Relationship Type="http://schemas.openxmlformats.org/officeDocument/2006/relationships/slide" Target="/ppt/slides/slide13.xml" Id="R0652c9eb6ff843cc" /><Relationship Type="http://schemas.openxmlformats.org/officeDocument/2006/relationships/slide" Target="/ppt/slides/slide14.xml" Id="R239e124a48ce46d3" /><Relationship Type="http://schemas.openxmlformats.org/officeDocument/2006/relationships/slide" Target="/ppt/slides/slide15.xml" Id="R9fd900567d9e413b" /><Relationship Type="http://schemas.openxmlformats.org/officeDocument/2006/relationships/slide" Target="/ppt/slides/slide16.xml" Id="R84cd5ee0041a4688" /><Relationship Type="http://schemas.openxmlformats.org/officeDocument/2006/relationships/slide" Target="/ppt/slides/slide17.xml" Id="Ra630866ea97c4334" /><Relationship Type="http://schemas.openxmlformats.org/officeDocument/2006/relationships/slide" Target="/ppt/slides/slide18.xml" Id="Ra1a0688d57f94a05" /><Relationship Type="http://schemas.openxmlformats.org/officeDocument/2006/relationships/slide" Target="/ppt/slides/slide19.xml" Id="R9597963f3d49480b" /><Relationship Type="http://schemas.openxmlformats.org/officeDocument/2006/relationships/slide" Target="/ppt/slides/slide20.xml" Id="Re3be77134dbd4c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e39997fc0240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560c3022c7401c" /><Relationship Type="http://schemas.openxmlformats.org/officeDocument/2006/relationships/notesMaster" Target="/ppt/notesMasters/notesMaster1.xml" Id="Ref6699b4a47c42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46cac741204427" /><Relationship Type="http://schemas.openxmlformats.org/officeDocument/2006/relationships/notesMaster" Target="/ppt/notesMasters/notesMaster1.xml" Id="Rf55d97eae4df4f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38705f12dd4c25" /><Relationship Type="http://schemas.openxmlformats.org/officeDocument/2006/relationships/notesMaster" Target="/ppt/notesMasters/notesMaster1.xml" Id="R85a4872ca2fc42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835b2cdedd4878" /><Relationship Type="http://schemas.openxmlformats.org/officeDocument/2006/relationships/notesMaster" Target="/ppt/notesMasters/notesMaster1.xml" Id="R5fbbdd8923e145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e29a4ccd3b4fe1" /><Relationship Type="http://schemas.openxmlformats.org/officeDocument/2006/relationships/notesMaster" Target="/ppt/notesMasters/notesMaster1.xml" Id="R1ebd1a3df30946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3d39d019584287" /><Relationship Type="http://schemas.openxmlformats.org/officeDocument/2006/relationships/notesMaster" Target="/ppt/notesMasters/notesMaster1.xml" Id="R9e35da9c09ec49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cb47bb359b4621" /><Relationship Type="http://schemas.openxmlformats.org/officeDocument/2006/relationships/notesMaster" Target="/ppt/notesMasters/notesMaster1.xml" Id="Rf4262895d0d549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73d89bb99f43c9" /><Relationship Type="http://schemas.openxmlformats.org/officeDocument/2006/relationships/notesMaster" Target="/ppt/notesMasters/notesMaster1.xml" Id="R08d81a32e70944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62d0cfe5ac4c02" /><Relationship Type="http://schemas.openxmlformats.org/officeDocument/2006/relationships/notesMaster" Target="/ppt/notesMasters/notesMaster1.xml" Id="Rfa764fcecf7747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f1c43dbeae4111" /><Relationship Type="http://schemas.openxmlformats.org/officeDocument/2006/relationships/notesMaster" Target="/ppt/notesMasters/notesMaster1.xml" Id="R0da8f0e43f384c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f56b0929fb48f6" /><Relationship Type="http://schemas.openxmlformats.org/officeDocument/2006/relationships/notesMaster" Target="/ppt/notesMasters/notesMaster1.xml" Id="R33989a1726554d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71fccffe3a4656" /><Relationship Type="http://schemas.openxmlformats.org/officeDocument/2006/relationships/notesMaster" Target="/ppt/notesMasters/notesMaster1.xml" Id="R9a14881173ff445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f634679f26457b" /><Relationship Type="http://schemas.openxmlformats.org/officeDocument/2006/relationships/notesMaster" Target="/ppt/notesMasters/notesMaster1.xml" Id="R61da1dd442bf4f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adb03e23d14661" /><Relationship Type="http://schemas.openxmlformats.org/officeDocument/2006/relationships/notesMaster" Target="/ppt/notesMasters/notesMaster1.xml" Id="R003c3673feec46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a70ab10478343e0" /><Relationship Type="http://schemas.openxmlformats.org/officeDocument/2006/relationships/notesMaster" Target="/ppt/notesMasters/notesMaster1.xml" Id="R240dd28b11c444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22fb7c02d247d5" /><Relationship Type="http://schemas.openxmlformats.org/officeDocument/2006/relationships/notesMaster" Target="/ppt/notesMasters/notesMaster1.xml" Id="R12ca34dd3cbe414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623e2ac5fb1495a" /><Relationship Type="http://schemas.openxmlformats.org/officeDocument/2006/relationships/notesMaster" Target="/ppt/notesMasters/notesMaster1.xml" Id="Rdf9295b5ef39497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368df58e9dd4372" /><Relationship Type="http://schemas.openxmlformats.org/officeDocument/2006/relationships/notesMaster" Target="/ppt/notesMasters/notesMaster1.xml" Id="R09599a8d81bd485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614cf4b0f344e10" /><Relationship Type="http://schemas.openxmlformats.org/officeDocument/2006/relationships/notesMaster" Target="/ppt/notesMasters/notesMaster1.xml" Id="R4eaeb7ad22b0475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808141ee71a42d5" /><Relationship Type="http://schemas.openxmlformats.org/officeDocument/2006/relationships/notesMaster" Target="/ppt/notesMasters/notesMaster1.xml" Id="R9d74540a5d3e46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frame this as a generalization problem, not only a benchmark-score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/Users/ranga/BerkeleyCourse/Capstone-IDS/README.md</a:t>
            </a:r>
          </a:p>
          <a:p xmlns:a="http://schemas.openxmlformats.org/drawingml/2006/main">
            <a:r>
              <a:t>- /Users/ranga/BerkeleyCourse/Capstone-IDS/phase2/WHITEPAPER.md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/Users/ranga/BerkeleyCourse/Capstone-IDS/phase2/PROJECT_BUSINESS_GOAL.md</a:t>
            </a:r>
          </a:p>
          <a:p xmlns:a="http://schemas.openxmlformats.org/drawingml/2006/main">
            <a:r>
              <a:t>- /Users/ranga/BerkeleyCourse/Capstone-IDS/phase2/DEPLOYMENT_ARCHITECTURE.md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/Users/ranga/BerkeleyCourse/Capstone-IDS/phase2/PROJECT_BUSINESS_GOAL.md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/Users/ranga/BerkeleyCourse/Capstone-IDS/README_EDA.md</a:t>
            </a:r>
          </a:p>
          <a:p xmlns:a="http://schemas.openxmlformats.org/drawingml/2006/main">
            <a:r>
              <a:t>- /Users/ranga/BerkeleyCourse/Capstone-IDS/phase2/WHITEPAPER.md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/Users/ranga/BerkeleyCourse/Capstone-IDS/README_EDA.md</a:t>
            </a:r>
          </a:p>
          <a:p xmlns:a="http://schemas.openxmlformats.org/drawingml/2006/main">
            <a:r>
              <a:t>- /Users/ranga/BerkeleyCourse/Capstone-IDS/01_eda.ipynb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/Users/ranga/BerkeleyCourse/Capstone-IDS/README_EDA.md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/Users/ranga/BerkeleyCourse/Capstone-IDS/README.md</a:t>
            </a:r>
          </a:p>
          <a:p xmlns:a="http://schemas.openxmlformats.org/drawingml/2006/main">
            <a:r>
              <a:t>- /Users/ranga/BerkeleyCourse/Capstone-IDS/phase2/06_cross_dataset_summary.csv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/Users/ranga/BerkeleyCourse/Capstone-IDS/README.md</a:t>
            </a:r>
          </a:p>
          <a:p xmlns:a="http://schemas.openxmlformats.org/drawingml/2006/main">
            <a:r>
              <a:t>- /Users/ranga/BerkeleyCourse/Capstone-IDS/Logistic_Regression_Baseline.ipynb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/Users/ranga/BerkeleyCourse/Capstone-IDS/phase2/02_summary.csv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/Users/ranga/BerkeleyCourse/Capstone-IDS/phase2/05_base_vs_tuned_comparison.csv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/Users/ranga/BerkeleyCourse/Capstone-IDS/phase2/06_cross_dataset_summary.csv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/Users/ranga/BerkeleyCourse/Capstone-IDS/phase2/06_cross_dataset_summary.csv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/Users/ranga/BerkeleyCourse/Capstone-IDS/phase2/WHITEPAPER.md</a:t>
            </a:r>
          </a:p>
          <a:p xmlns:a="http://schemas.openxmlformats.org/drawingml/2006/main">
            <a:r>
              <a:t>- /Users/ranga/BerkeleyCourse/Capstone-IDS/phase2/MLOPS_AIOPS_OPERATING_MODEL.md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/Users/ranga/BerkeleyCourse/Capstone-IDS/phase2/DEPLOYMENT_ARCHITECTURE.md</a:t>
            </a:r>
          </a:p>
          <a:p xmlns:a="http://schemas.openxmlformats.org/drawingml/2006/main">
            <a:r>
              <a:t>- https://csrc.nist.gov/pubs/sp/800/207/final</a:t>
            </a:r>
          </a:p>
          <a:p xmlns:a="http://schemas.openxmlformats.org/drawingml/2006/main">
            <a:r>
              <a:t>- https://www.nist.gov/itl/ai-risk-management-framework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/Users/ranga/BerkeleyCourse/Capstone-IDS/phase2/WHITEPAPER.md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/Users/ranga/BerkeleyCourse/Capstone-IDS/README.md</a:t>
            </a:r>
          </a:p>
          <a:p xmlns:a="http://schemas.openxmlformats.org/drawingml/2006/main">
            <a:r>
              <a:t>- /Users/ranga/BerkeleyCourse/Capstone-IDS/README_EDA.md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/Users/ranga/BerkeleyCourse/Capstone-IDS/phase2/06_cross_dataset_summary.csv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/Users/ranga/BerkeleyCourse/Capstone-IDS/phase2/TECHNOLOGY_COMPONENTS.md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/Users/ranga/BerkeleyCourse/Capstone-IDS/phase2/MLOPS_AIOPS_OPERATING_MODEL.md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/Users/ranga/BerkeleyCourse/Capstone-IDS/phase2/WHITEPAPER.md</a:t>
            </a:r>
          </a:p>
          <a:p xmlns:a="http://schemas.openxmlformats.org/drawingml/2006/main">
            <a:r>
              <a:t>- /Users/ranga/BerkeleyCourse/Capstone-IDS/phase2/DEPLOYMENT_ARCHITECTURE.md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ce4e0afce649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7e4a48f2dd47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3de245a8643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b39f778b4844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8a0a0e807046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e1cb5724840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0AEB0E-E2E7-41A0-96F3-D0C2267A6C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08D5FB3-F7C4-4F1A-8F97-ADD1CB7400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D29A069-9C08-4DB3-985D-25E5321633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D60573-DFC2-4E73-A5A0-A194B2FF67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6771D9D-7CB6-41A9-8A81-5C70498F03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E8637E-48CE-4201-9098-61EA1F2EC8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7D6B10-AA12-44B0-B864-2FD972588F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214B744-26A3-422B-ABE1-4DC7A4185E9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C752BA-F5FB-429B-B62E-424949EA81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F4DD66-F69B-4320-91E7-C9D2FE658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a03be831024fd2" /><Relationship Type="http://schemas.openxmlformats.org/officeDocument/2006/relationships/slideLayout" Target="/ppt/slideLayouts/slideLayout1.xml" Id="R04612fd79bc14fe5" /><Relationship Type="http://schemas.openxmlformats.org/officeDocument/2006/relationships/slideLayout" Target="/ppt/slideLayouts/slideLayout2.xml" Id="R4145386452fb4042" /><Relationship Type="http://schemas.openxmlformats.org/officeDocument/2006/relationships/slideLayout" Target="/ppt/slideLayouts/slideLayout3.xml" Id="R3493f4db88cf48e8" /><Relationship Type="http://schemas.openxmlformats.org/officeDocument/2006/relationships/slideLayout" Target="/ppt/slideLayouts/slideLayout4.xml" Id="R4281f357602c4669" /><Relationship Type="http://schemas.openxmlformats.org/officeDocument/2006/relationships/slideLayout" Target="/ppt/slideLayouts/slideLayout5.xml" Id="R14c0218212bc43e5" /><Relationship Type="http://schemas.openxmlformats.org/officeDocument/2006/relationships/slideLayout" Target="/ppt/slideLayouts/slideLayout6.xml" Id="Rfc15505cb04949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612fd79bc14fe5"/>
    <p:sldLayoutId xmlns:r="http://schemas.openxmlformats.org/officeDocument/2006/relationships" id="2147483650" r:id="R4145386452fb4042"/>
    <p:sldLayoutId xmlns:r="http://schemas.openxmlformats.org/officeDocument/2006/relationships" id="2147483651" r:id="R3493f4db88cf48e8"/>
    <p:sldLayoutId xmlns:r="http://schemas.openxmlformats.org/officeDocument/2006/relationships" id="2147483652" r:id="R4281f357602c4669"/>
    <p:sldLayoutId xmlns:r="http://schemas.openxmlformats.org/officeDocument/2006/relationships" id="2147483653" r:id="R14c0218212bc43e5"/>
    <p:sldLayoutId xmlns:r="http://schemas.openxmlformats.org/officeDocument/2006/relationships" id="2147483654" r:id="Rfc15505cb04949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5ae623649d46c6" /><Relationship Type="http://schemas.openxmlformats.org/officeDocument/2006/relationships/notesSlide" Target="/ppt/notesSlides/notesSlide1.xml" Id="R345eef5cbb0e40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7bcdd7c9c94670" /><Relationship Type="http://schemas.openxmlformats.org/officeDocument/2006/relationships/notesSlide" Target="/ppt/notesSlides/notesSlide2.xml" Id="R3d476f8d8b5c47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e2938152e84d49" /><Relationship Type="http://schemas.openxmlformats.org/officeDocument/2006/relationships/notesSlide" Target="/ppt/notesSlides/notesSlide3.xml" Id="R8b8c0fc082424b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70897aaf3244f1" /><Relationship Type="http://schemas.openxmlformats.org/officeDocument/2006/relationships/notesSlide" Target="/ppt/notesSlides/notesSlide4.xml" Id="R9d156c43457440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195e8719cf4ed9" /><Relationship Type="http://schemas.openxmlformats.org/officeDocument/2006/relationships/notesSlide" Target="/ppt/notesSlides/notesSlide5.xml" Id="R3ad6c910b8c642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526361b489448f" /><Relationship Type="http://schemas.openxmlformats.org/officeDocument/2006/relationships/notesSlide" Target="/ppt/notesSlides/notesSlide6.xml" Id="Rb4c3dbbbb75749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ae606d6e9141a3" /><Relationship Type="http://schemas.openxmlformats.org/officeDocument/2006/relationships/notesSlide" Target="/ppt/notesSlides/notesSlide7.xml" Id="R0f2e12670e114d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4d17b22b1748ab" /><Relationship Type="http://schemas.openxmlformats.org/officeDocument/2006/relationships/chart" Target="/ppt/slides/charts/chart1.xml" Id="R886869be89e74eac" /><Relationship Type="http://schemas.openxmlformats.org/officeDocument/2006/relationships/notesSlide" Target="/ppt/notesSlides/notesSlide8.xml" Id="Rf4a99872b1a748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9b0de4ca814bcc" /><Relationship Type="http://schemas.openxmlformats.org/officeDocument/2006/relationships/chart" Target="/ppt/slides/charts/chart2.xml" Id="R6da1ffcf3d724c0b" /><Relationship Type="http://schemas.openxmlformats.org/officeDocument/2006/relationships/notesSlide" Target="/ppt/notesSlides/notesSlide9.xml" Id="R20e55de9776a4a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4b367fd54f4430" /><Relationship Type="http://schemas.openxmlformats.org/officeDocument/2006/relationships/chart" Target="/ppt/slides/charts/chart3.xml" Id="R242f35224cfc444b" /><Relationship Type="http://schemas.openxmlformats.org/officeDocument/2006/relationships/notesSlide" Target="/ppt/notesSlides/notesSlide10.xml" Id="R8e029b7cdde44f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b76d7c7845498b" /><Relationship Type="http://schemas.openxmlformats.org/officeDocument/2006/relationships/chart" Target="/ppt/slides/charts/chart4.xml" Id="Rdac668cb8e4f491f" /><Relationship Type="http://schemas.openxmlformats.org/officeDocument/2006/relationships/notesSlide" Target="/ppt/notesSlides/notesSlide11.xml" Id="Rbb7903462a6145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d687a4fbbe4bda" /><Relationship Type="http://schemas.openxmlformats.org/officeDocument/2006/relationships/chart" Target="/ppt/slides/charts/chart5.xml" Id="R725046cbf61d4276" /><Relationship Type="http://schemas.openxmlformats.org/officeDocument/2006/relationships/notesSlide" Target="/ppt/notesSlides/notesSlide12.xml" Id="R03f07af5fbee4e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e65b49172c4149" /><Relationship Type="http://schemas.openxmlformats.org/officeDocument/2006/relationships/notesSlide" Target="/ppt/notesSlides/notesSlide13.xml" Id="R36e14562e14441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b78a4889de4d61" /><Relationship Type="http://schemas.openxmlformats.org/officeDocument/2006/relationships/notesSlide" Target="/ppt/notesSlides/notesSlide14.xml" Id="R962f6fd5d290499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7034b9178a46ef" /><Relationship Type="http://schemas.openxmlformats.org/officeDocument/2006/relationships/notesSlide" Target="/ppt/notesSlides/notesSlide15.xml" Id="R998f83543058431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94b21033c54855" /><Relationship Type="http://schemas.openxmlformats.org/officeDocument/2006/relationships/notesSlide" Target="/ppt/notesSlides/notesSlide16.xml" Id="Rd11c0105432f44f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5cfad1034d4e33" /><Relationship Type="http://schemas.openxmlformats.org/officeDocument/2006/relationships/chart" Target="/ppt/slides/charts/chart6.xml" Id="R97d830716e8547bc" /><Relationship Type="http://schemas.openxmlformats.org/officeDocument/2006/relationships/notesSlide" Target="/ppt/notesSlides/notesSlide17.xml" Id="R58206f90f1ab497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3cee50332e44cf" /><Relationship Type="http://schemas.openxmlformats.org/officeDocument/2006/relationships/notesSlide" Target="/ppt/notesSlides/notesSlide18.xml" Id="Rde1b5faa6308417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9f85e33cce4b57" /><Relationship Type="http://schemas.openxmlformats.org/officeDocument/2006/relationships/notesSlide" Target="/ppt/notesSlides/notesSlide19.xml" Id="Re8d4910c77554ac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dfbc78325e4b7f" /><Relationship Type="http://schemas.openxmlformats.org/officeDocument/2006/relationships/notesSlide" Target="/ppt/notesSlides/notesSlide20.xml" Id="R4279bd6759834b79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8FA"/>
                </a:solidFill>
                <a:latin typeface="Avenir Next"/>
                <a:ea typeface="Avenir Next"/>
                <a:cs typeface="Avenir Next"/>
              </a:rPr>
              <a:t>Macro F1 by evaluation view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Base</c:v>
          </c:tx>
          <c:spPr>
            <a:solidFill xmlns:a="http://schemas.openxmlformats.org/drawingml/2006/main">
              <a:srgbClr val="A8BAC8"/>
            </a:solidFill>
          </c:spPr>
          <c:invertIfNegative val="0"/>
          <c:cat>
            <c:strLit>
              <c:ptCount val="3"/>
              <c:pt idx="0">
                <c:v>Random split</c:v>
              </c:pt>
              <c:pt idx="1">
                <c:v>Chronological</c:v>
              </c:pt>
              <c:pt idx="2">
                <c:v>Chronological attack</c:v>
              </c:pt>
            </c:strLit>
          </c:cat>
          <c:val>
            <c:numLit>
              <c:formatCode>0.0</c:formatCode>
              <c:ptCount val="3"/>
              <c:pt idx="0">
                <c:v>0.8241</c:v>
              </c:pt>
              <c:pt idx="1">
                <c:v>0.7278</c:v>
              </c:pt>
              <c:pt idx="2">
                <c:v>0.7101</c:v>
              </c:pt>
            </c:numLit>
          </c:val>
        </c:ser>
        <c:ser>
          <c:idx val="1"/>
          <c:order val="1"/>
          <c:tx>
            <c:v>Tuned</c:v>
          </c:tx>
          <c:spPr>
            <a:solidFill xmlns:a="http://schemas.openxmlformats.org/drawingml/2006/main">
              <a:srgbClr val="29C7D8"/>
            </a:solidFill>
          </c:spPr>
          <c:invertIfNegative val="0"/>
          <c:cat>
            <c:strLit>
              <c:ptCount val="3"/>
              <c:pt idx="0">
                <c:v>Random split</c:v>
              </c:pt>
              <c:pt idx="1">
                <c:v>Chronological</c:v>
              </c:pt>
              <c:pt idx="2">
                <c:v>Chronological attack</c:v>
              </c:pt>
            </c:strLit>
          </c:cat>
          <c:val>
            <c:numLit>
              <c:formatCode>0.0</c:formatCode>
              <c:ptCount val="3"/>
              <c:pt idx="0">
                <c:v>0.8298</c:v>
              </c:pt>
              <c:pt idx="1">
                <c:v>0.7746</c:v>
              </c:pt>
              <c:pt idx="2">
                <c:v>0.7598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F5F8F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7465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5F8F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.6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465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8BAC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  <c:majorUnit val="0.1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8FA"/>
                </a:solidFill>
                <a:latin typeface="Avenir Next"/>
                <a:ea typeface="Avenir Next"/>
                <a:cs typeface="Avenir Next"/>
              </a:rPr>
              <a:t>Chronological macro F1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2EC4A6"/>
            </a:solidFill>
          </c:spPr>
          <c:invertIfNegative val="0"/>
          <c:cat>
            <c:strLit>
              <c:ptCount val="7"/>
              <c:pt idx="0">
                <c:v>HistGradientBoosting</c:v>
              </c:pt>
              <c:pt idx="1">
                <c:v>LightGBM</c:v>
              </c:pt>
              <c:pt idx="2">
                <c:v>XGBoost</c:v>
              </c:pt>
              <c:pt idx="3">
                <c:v>Extra Trees</c:v>
              </c:pt>
              <c:pt idx="4">
                <c:v>Random Forest</c:v>
              </c:pt>
              <c:pt idx="5">
                <c:v>Tuned MLP</c:v>
              </c:pt>
              <c:pt idx="6">
                <c:v>Logistic Regression</c:v>
              </c:pt>
            </c:strLit>
          </c:cat>
          <c:val>
            <c:numLit>
              <c:formatCode>General</c:formatCode>
              <c:ptCount val="7"/>
              <c:pt idx="0">
                <c:v>0.923597</c:v>
              </c:pt>
              <c:pt idx="1">
                <c:v>0.918177</c:v>
              </c:pt>
              <c:pt idx="2">
                <c:v>0.910812</c:v>
              </c:pt>
              <c:pt idx="3">
                <c:v>0.89242</c:v>
              </c:pt>
              <c:pt idx="4">
                <c:v>0.890761</c:v>
              </c:pt>
              <c:pt idx="5">
                <c:v>0.807475</c:v>
              </c:pt>
              <c:pt idx="6">
                <c:v>0.7278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F5F8F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465C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8BAC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7465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F5F8F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8FA"/>
                </a:solidFill>
                <a:latin typeface="Avenir Next"/>
                <a:ea typeface="Avenir Next"/>
                <a:cs typeface="Avenir Next"/>
              </a:rPr>
              <a:t>Positive tuning lift in chronological macro F1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Positive change in macro F1</c:v>
          </c:tx>
          <c:spPr>
            <a:solidFill xmlns:a="http://schemas.openxmlformats.org/drawingml/2006/main">
              <a:srgbClr val="29C7D8"/>
            </a:solidFill>
          </c:spPr>
          <c:invertIfNegative val="0"/>
          <c:cat>
            <c:strLit>
              <c:ptCount val="6"/>
              <c:pt idx="0">
                <c:v>MLP</c:v>
              </c:pt>
              <c:pt idx="1">
                <c:v>Random Forest</c:v>
              </c:pt>
              <c:pt idx="2">
                <c:v>Extra Trees</c:v>
              </c:pt>
              <c:pt idx="3">
                <c:v>XGBoost</c:v>
              </c:pt>
              <c:pt idx="4">
                <c:v>LightGBM</c:v>
              </c:pt>
              <c:pt idx="5">
                <c:v>HistGradientBoosting</c:v>
              </c:pt>
            </c:strLit>
          </c:cat>
          <c:val>
            <c:numLit>
              <c:formatCode>0.00</c:formatCode>
              <c:ptCount val="6"/>
              <c:pt idx="0">
                <c:v>0.07631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F5F8F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7465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5F8F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0.0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465C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8BAC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  <c:majorUnit val="0.02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8FA"/>
                </a:solidFill>
                <a:latin typeface="Avenir Next"/>
                <a:ea typeface="Avenir Next"/>
                <a:cs typeface="Avenir Next"/>
              </a:rPr>
              <a:t>Cross-dataset macro F1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Train 2017</c:v>
          </c:tx>
          <c:spPr>
            <a:solidFill xmlns:a="http://schemas.openxmlformats.org/drawingml/2006/main">
              <a:srgbClr val="29C7D8"/>
            </a:solidFill>
          </c:spPr>
          <c:invertIfNegative val="0"/>
          <c:cat>
            <c:strLit>
              <c:ptCount val="2"/>
              <c:pt idx="0">
                <c:v>Test on 2017</c:v>
              </c:pt>
              <c:pt idx="1">
                <c:v>Test on 2018</c:v>
              </c:pt>
            </c:strLit>
          </c:cat>
          <c:val>
            <c:numLit>
              <c:formatCode>0.0</c:formatCode>
              <c:ptCount val="2"/>
              <c:pt idx="0">
                <c:v>0.989957</c:v>
              </c:pt>
              <c:pt idx="1">
                <c:v>0.693647</c:v>
              </c:pt>
            </c:numLit>
          </c:val>
        </c:ser>
        <c:ser>
          <c:idx val="1"/>
          <c:order val="1"/>
          <c:tx>
            <c:v>Train 2018</c:v>
          </c:tx>
          <c:spPr>
            <a:solidFill xmlns:a="http://schemas.openxmlformats.org/drawingml/2006/main">
              <a:srgbClr val="2EC4A6"/>
            </a:solidFill>
          </c:spPr>
          <c:invertIfNegative val="0"/>
          <c:cat>
            <c:strLit>
              <c:ptCount val="2"/>
              <c:pt idx="0">
                <c:v>Test on 2017</c:v>
              </c:pt>
              <c:pt idx="1">
                <c:v>Test on 2018</c:v>
              </c:pt>
            </c:strLit>
          </c:cat>
          <c:val>
            <c:numLit>
              <c:formatCode>0.0</c:formatCode>
              <c:ptCount val="2"/>
              <c:pt idx="0">
                <c:v>0.794497</c:v>
              </c:pt>
              <c:pt idx="1">
                <c:v>0.985101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F5F8F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8F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6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465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8BAC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  <c:majorUnit val="0.1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legend>
    <c:plotVisOnly val="1"/>
  </c:chart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8FA"/>
                </a:solidFill>
                <a:latin typeface="Avenir Next"/>
                <a:ea typeface="Avenir Next"/>
                <a:cs typeface="Avenir Next"/>
              </a:rPr>
              <a:t>Macro F1 by training strategy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2017 only</c:v>
          </c:tx>
          <c:spPr>
            <a:solidFill xmlns:a="http://schemas.openxmlformats.org/drawingml/2006/main">
              <a:srgbClr val="A8BAC8"/>
            </a:solidFill>
          </c:spPr>
          <c:invertIfNegative val="0"/>
          <c:cat>
            <c:strLit>
              <c:ptCount val="2"/>
              <c:pt idx="0">
                <c:v>2017 test</c:v>
              </c:pt>
              <c:pt idx="1">
                <c:v>2018 test</c:v>
              </c:pt>
            </c:strLit>
          </c:cat>
          <c:val>
            <c:numLit>
              <c:formatCode>0.0</c:formatCode>
              <c:ptCount val="2"/>
              <c:pt idx="0">
                <c:v>0.989957</c:v>
              </c:pt>
              <c:pt idx="1">
                <c:v>0.693647</c:v>
              </c:pt>
            </c:numLit>
          </c:val>
        </c:ser>
        <c:ser>
          <c:idx val="1"/>
          <c:order val="1"/>
          <c:tx>
            <c:v>Mixed equal</c:v>
          </c:tx>
          <c:spPr>
            <a:solidFill xmlns:a="http://schemas.openxmlformats.org/drawingml/2006/main">
              <a:srgbClr val="29C7D8"/>
            </a:solidFill>
          </c:spPr>
          <c:invertIfNegative val="0"/>
          <c:cat>
            <c:strLit>
              <c:ptCount val="2"/>
              <c:pt idx="0">
                <c:v>2017 test</c:v>
              </c:pt>
              <c:pt idx="1">
                <c:v>2018 test</c:v>
              </c:pt>
            </c:strLit>
          </c:cat>
          <c:val>
            <c:numLit>
              <c:formatCode>0.0</c:formatCode>
              <c:ptCount val="2"/>
              <c:pt idx="0">
                <c:v>0.961682</c:v>
              </c:pt>
              <c:pt idx="1">
                <c:v>0.96666</c:v>
              </c:pt>
            </c:numLit>
          </c:val>
        </c:ser>
        <c:ser>
          <c:idx val="2"/>
          <c:order val="2"/>
          <c:tx>
            <c:v>Mixed expanded</c:v>
          </c:tx>
          <c:spPr>
            <a:solidFill xmlns:a="http://schemas.openxmlformats.org/drawingml/2006/main">
              <a:srgbClr val="2EC4A6"/>
            </a:solidFill>
          </c:spPr>
          <c:invertIfNegative val="0"/>
          <c:cat>
            <c:strLit>
              <c:ptCount val="2"/>
              <c:pt idx="0">
                <c:v>2017 test</c:v>
              </c:pt>
              <c:pt idx="1">
                <c:v>2018 test</c:v>
              </c:pt>
            </c:strLit>
          </c:cat>
          <c:val>
            <c:numLit>
              <c:formatCode>0.0</c:formatCode>
              <c:ptCount val="2"/>
              <c:pt idx="0">
                <c:v>0.962869</c:v>
              </c:pt>
              <c:pt idx="1">
                <c:v>0.967468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F5F8F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5F8F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6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465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8BAC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  <c:majorUnit val="0.1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legend>
    <c:plotVisOnly val="1"/>
  </c:chart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8FA"/>
                </a:solidFill>
                <a:latin typeface="Avenir Next"/>
                <a:ea typeface="Avenir Next"/>
                <a:cs typeface="Avenir Next"/>
              </a:rPr>
              <a:t>Attack recall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F5F8F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Attack recall</c:v>
          </c:tx>
          <c:spPr>
            <a:solidFill xmlns:a="http://schemas.openxmlformats.org/drawingml/2006/main">
              <a:srgbClr val="2EC4A6"/>
            </a:solidFill>
          </c:spPr>
          <c:invertIfNegative val="0"/>
          <c:cat>
            <c:strLit>
              <c:ptCount val="6"/>
              <c:pt idx="0">
                <c:v>17→17</c:v>
              </c:pt>
              <c:pt idx="1">
                <c:v>17→18</c:v>
              </c:pt>
              <c:pt idx="2">
                <c:v>18→17</c:v>
              </c:pt>
              <c:pt idx="3">
                <c:v>18→18</c:v>
              </c:pt>
              <c:pt idx="4">
                <c:v>Mixed→17</c:v>
              </c:pt>
              <c:pt idx="5">
                <c:v>Mixed→18</c:v>
              </c:pt>
            </c:strLit>
          </c:cat>
          <c:val>
            <c:numLit>
              <c:formatCode>0.0</c:formatCode>
              <c:ptCount val="6"/>
              <c:pt idx="0">
                <c:v>0.991245</c:v>
              </c:pt>
              <c:pt idx="1">
                <c:v>0.442415</c:v>
              </c:pt>
              <c:pt idx="2">
                <c:v>0.683173</c:v>
              </c:pt>
              <c:pt idx="3">
                <c:v>0.984078</c:v>
              </c:pt>
              <c:pt idx="4">
                <c:v>0.987005</c:v>
              </c:pt>
              <c:pt idx="5">
                <c:v>0.977613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F5F8F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5F8F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465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8BAC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  <c:majorUnit val="0.2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0AE4D9-A7EA-4B4D-8AF2-1B1C9D48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BB77E-386A-44DA-93E4-36EB6700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9C7D8"/>
                </a:solidFill>
              </a:defRPr>
            </a:defPPr>
            <a:lvl1pPr>
              <a:defRPr sz="1050" b="1">
                <a:solidFill>
                  <a:srgbClr val="29C7D8"/>
                </a:solidFill>
              </a:defRPr>
            </a:lvl1pPr>
            <a:lvl2pPr>
              <a:defRPr sz="1050" b="1">
                <a:solidFill>
                  <a:srgbClr val="29C7D8"/>
                </a:solidFill>
              </a:defRPr>
            </a:lvl2pPr>
            <a:lvl3pPr>
              <a:defRPr sz="1050" b="1">
                <a:solidFill>
                  <a:srgbClr val="29C7D8"/>
                </a:solidFill>
              </a:defRPr>
            </a:lvl3pPr>
            <a:lvl4pPr>
              <a:defRPr sz="1050" b="1">
                <a:solidFill>
                  <a:srgbClr val="29C7D8"/>
                </a:solidFill>
              </a:defRPr>
            </a:lvl4pPr>
            <a:lvl5pPr>
              <a:defRPr sz="1050" b="1">
                <a:solidFill>
                  <a:srgbClr val="29C7D8"/>
                </a:solidFill>
              </a:defRPr>
            </a:lvl5pPr>
            <a:lvl6pPr>
              <a:defRPr sz="1050" b="1">
                <a:solidFill>
                  <a:srgbClr val="29C7D8"/>
                </a:solidFill>
              </a:defRPr>
            </a:lvl6pPr>
            <a:lvl7pPr>
              <a:defRPr sz="1050" b="1">
                <a:solidFill>
                  <a:srgbClr val="29C7D8"/>
                </a:solidFill>
              </a:defRPr>
            </a:lvl7pPr>
            <a:lvl8pPr>
              <a:defRPr sz="1050" b="1">
                <a:solidFill>
                  <a:srgbClr val="29C7D8"/>
                </a:solidFill>
              </a:defRPr>
            </a:lvl8pPr>
            <a:lvl9pPr>
              <a:defRPr sz="105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9C7D8"/>
                </a:solidFill>
              </a:defRPr>
            </a:pPr>
            <a:r>
              <a:rPr sz="1050" b="1">
                <a:solidFill>
                  <a:srgbClr val="29C7D8"/>
                </a:solidFill>
              </a:rPr>
              <a:t>BERKELEY CAPSTONE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6F7F4-6084-46A7-93C2-900BCB3C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00" b="1">
                <a:solidFill>
                  <a:srgbClr val="F5F8FA"/>
                </a:solidFill>
              </a:defRPr>
            </a:defPPr>
            <a:lvl1pPr>
              <a:defRPr sz="3600" b="1">
                <a:solidFill>
                  <a:srgbClr val="F5F8FA"/>
                </a:solidFill>
              </a:defRPr>
            </a:lvl1pPr>
            <a:lvl2pPr>
              <a:defRPr sz="3600" b="1">
                <a:solidFill>
                  <a:srgbClr val="F5F8FA"/>
                </a:solidFill>
              </a:defRPr>
            </a:lvl2pPr>
            <a:lvl3pPr>
              <a:defRPr sz="3600" b="1">
                <a:solidFill>
                  <a:srgbClr val="F5F8FA"/>
                </a:solidFill>
              </a:defRPr>
            </a:lvl3pPr>
            <a:lvl4pPr>
              <a:defRPr sz="3600" b="1">
                <a:solidFill>
                  <a:srgbClr val="F5F8FA"/>
                </a:solidFill>
              </a:defRPr>
            </a:lvl4pPr>
            <a:lvl5pPr>
              <a:defRPr sz="3600" b="1">
                <a:solidFill>
                  <a:srgbClr val="F5F8FA"/>
                </a:solidFill>
              </a:defRPr>
            </a:lvl5pPr>
            <a:lvl6pPr>
              <a:defRPr sz="3600" b="1">
                <a:solidFill>
                  <a:srgbClr val="F5F8FA"/>
                </a:solidFill>
              </a:defRPr>
            </a:lvl6pPr>
            <a:lvl7pPr>
              <a:defRPr sz="3600" b="1">
                <a:solidFill>
                  <a:srgbClr val="F5F8FA"/>
                </a:solidFill>
              </a:defRPr>
            </a:lvl7pPr>
            <a:lvl8pPr>
              <a:defRPr sz="3600" b="1">
                <a:solidFill>
                  <a:srgbClr val="F5F8FA"/>
                </a:solidFill>
              </a:defRPr>
            </a:lvl8pPr>
            <a:lvl9pPr>
              <a:defRPr sz="36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8FA"/>
                </a:solidFill>
              </a:defRPr>
            </a:pPr>
            <a:r>
              <a:rPr sz="3600" b="1">
                <a:solidFill>
                  <a:srgbClr val="F5F8FA"/>
                </a:solidFill>
              </a:rPr>
              <a:t>Cross-Network</a:t>
            </a:r>
          </a:p>
          <a:p xmlns:a="http://schemas.openxmlformats.org/drawingml/2006/main">
            <a:pPr>
              <a:defRPr sz="3600" b="1">
                <a:solidFill>
                  <a:srgbClr val="F5F8FA"/>
                </a:solidFill>
              </a:defRPr>
            </a:pPr>
            <a:r>
              <a:rPr sz="3600" b="1">
                <a:solidFill>
                  <a:srgbClr val="F5F8FA"/>
                </a:solidFill>
              </a:rPr>
              <a:t>Intrusion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187C4-E3E0-4BA8-BA66-F076BB2C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A8BAC8"/>
                </a:solidFill>
              </a:defRPr>
            </a:defPPr>
            <a:lvl1pPr>
              <a:defRPr sz="1650" b="0">
                <a:solidFill>
                  <a:srgbClr val="A8BAC8"/>
                </a:solidFill>
              </a:defRPr>
            </a:lvl1pPr>
            <a:lvl2pPr>
              <a:defRPr sz="1650" b="0">
                <a:solidFill>
                  <a:srgbClr val="A8BAC8"/>
                </a:solidFill>
              </a:defRPr>
            </a:lvl2pPr>
            <a:lvl3pPr>
              <a:defRPr sz="1650" b="0">
                <a:solidFill>
                  <a:srgbClr val="A8BAC8"/>
                </a:solidFill>
              </a:defRPr>
            </a:lvl3pPr>
            <a:lvl4pPr>
              <a:defRPr sz="1650" b="0">
                <a:solidFill>
                  <a:srgbClr val="A8BAC8"/>
                </a:solidFill>
              </a:defRPr>
            </a:lvl4pPr>
            <a:lvl5pPr>
              <a:defRPr sz="1650" b="0">
                <a:solidFill>
                  <a:srgbClr val="A8BAC8"/>
                </a:solidFill>
              </a:defRPr>
            </a:lvl5pPr>
            <a:lvl6pPr>
              <a:defRPr sz="1650" b="0">
                <a:solidFill>
                  <a:srgbClr val="A8BAC8"/>
                </a:solidFill>
              </a:defRPr>
            </a:lvl6pPr>
            <a:lvl7pPr>
              <a:defRPr sz="1650" b="0">
                <a:solidFill>
                  <a:srgbClr val="A8BAC8"/>
                </a:solidFill>
              </a:defRPr>
            </a:lvl7pPr>
            <a:lvl8pPr>
              <a:defRPr sz="1650" b="0">
                <a:solidFill>
                  <a:srgbClr val="A8BAC8"/>
                </a:solidFill>
              </a:defRPr>
            </a:lvl8pPr>
            <a:lvl9pPr>
              <a:defRPr sz="165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8BAC8"/>
                </a:solidFill>
              </a:defRPr>
            </a:pPr>
            <a:r>
              <a:rPr sz="1650" b="0">
                <a:solidFill>
                  <a:srgbClr val="A8BAC8"/>
                </a:solidFill>
              </a:rPr>
              <a:t>Exploratory analysis, model comparison, and deployment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94F9D-771A-47CF-952A-AEA0F7A2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66800"/>
            <a:ext cx="3143250" cy="3714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DD0F2-C73E-45E0-AC23-04510707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885950"/>
            <a:ext cx="166687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A281B-4111-41A1-AA7B-18EFE6BF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885950"/>
            <a:ext cx="333375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E834C-D1BC-4659-A07E-5B04E34C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24075"/>
            <a:ext cx="142875" cy="176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62F5E-D7B0-4EC9-8B33-C6C26D28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71825"/>
            <a:ext cx="147637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E6AFB-5C81-40D4-9AEC-8F38F60F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71825"/>
            <a:ext cx="28575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C61EC8-5D7F-490D-96AB-48D49A45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190625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12B5D-963B-4753-9795-440C8E99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5E47A-C907-4DF1-A7C6-38DFE9CB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47B753-BA24-4C9B-884B-DFD58956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0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07975-86E2-4C8C-9CF8-F2884653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14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74CE4-0F68-4008-9C88-60CA17EA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33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EFFFBE-462D-45BA-BF84-40DBEB73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00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F5F8FA"/>
                </a:solidFill>
              </a:defRPr>
            </a:defPPr>
            <a:lvl1pPr>
              <a:defRPr sz="1425" b="1">
                <a:solidFill>
                  <a:srgbClr val="F5F8FA"/>
                </a:solidFill>
              </a:defRPr>
            </a:lvl1pPr>
            <a:lvl2pPr>
              <a:defRPr sz="1425" b="1">
                <a:solidFill>
                  <a:srgbClr val="F5F8FA"/>
                </a:solidFill>
              </a:defRPr>
            </a:lvl2pPr>
            <a:lvl3pPr>
              <a:defRPr sz="1425" b="1">
                <a:solidFill>
                  <a:srgbClr val="F5F8FA"/>
                </a:solidFill>
              </a:defRPr>
            </a:lvl3pPr>
            <a:lvl4pPr>
              <a:defRPr sz="1425" b="1">
                <a:solidFill>
                  <a:srgbClr val="F5F8FA"/>
                </a:solidFill>
              </a:defRPr>
            </a:lvl4pPr>
            <a:lvl5pPr>
              <a:defRPr sz="1425" b="1">
                <a:solidFill>
                  <a:srgbClr val="F5F8FA"/>
                </a:solidFill>
              </a:defRPr>
            </a:lvl5pPr>
            <a:lvl6pPr>
              <a:defRPr sz="1425" b="1">
                <a:solidFill>
                  <a:srgbClr val="F5F8FA"/>
                </a:solidFill>
              </a:defRPr>
            </a:lvl6pPr>
            <a:lvl7pPr>
              <a:defRPr sz="1425" b="1">
                <a:solidFill>
                  <a:srgbClr val="F5F8FA"/>
                </a:solidFill>
              </a:defRPr>
            </a:lvl7pPr>
            <a:lvl8pPr>
              <a:defRPr sz="1425" b="1">
                <a:solidFill>
                  <a:srgbClr val="F5F8FA"/>
                </a:solidFill>
              </a:defRPr>
            </a:lvl8pPr>
            <a:lvl9pPr>
              <a:defRPr sz="14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5F8FA"/>
                </a:solidFill>
              </a:defRPr>
            </a:pPr>
            <a:r>
              <a:rPr sz="1425" b="1">
                <a:solidFill>
                  <a:srgbClr val="F5F8FA"/>
                </a:solidFill>
              </a:rPr>
              <a:t>Can a detector trained in one network</a:t>
            </a:r>
          </a:p>
          <a:p xmlns:a="http://schemas.openxmlformats.org/drawingml/2006/main">
            <a:pPr>
              <a:defRPr sz="1425" b="1">
                <a:solidFill>
                  <a:srgbClr val="F5F8FA"/>
                </a:solidFill>
              </a:defRPr>
            </a:pPr>
            <a:r>
              <a:rPr sz="1425" b="1">
                <a:solidFill>
                  <a:srgbClr val="F5F8FA"/>
                </a:solidFill>
              </a:rPr>
              <a:t>remain reliable in another?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15B08D-3E25-462D-B66C-02F8202C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769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A8BAC8"/>
                </a:solidFill>
              </a:defRPr>
            </a:defPPr>
            <a:lvl1pPr>
              <a:defRPr sz="1050" b="0">
                <a:solidFill>
                  <a:srgbClr val="A8BAC8"/>
                </a:solidFill>
              </a:defRPr>
            </a:lvl1pPr>
            <a:lvl2pPr>
              <a:defRPr sz="1050" b="0">
                <a:solidFill>
                  <a:srgbClr val="A8BAC8"/>
                </a:solidFill>
              </a:defRPr>
            </a:lvl2pPr>
            <a:lvl3pPr>
              <a:defRPr sz="1050" b="0">
                <a:solidFill>
                  <a:srgbClr val="A8BAC8"/>
                </a:solidFill>
              </a:defRPr>
            </a:lvl3pPr>
            <a:lvl4pPr>
              <a:defRPr sz="1050" b="0">
                <a:solidFill>
                  <a:srgbClr val="A8BAC8"/>
                </a:solidFill>
              </a:defRPr>
            </a:lvl4pPr>
            <a:lvl5pPr>
              <a:defRPr sz="1050" b="0">
                <a:solidFill>
                  <a:srgbClr val="A8BAC8"/>
                </a:solidFill>
              </a:defRPr>
            </a:lvl5pPr>
            <a:lvl6pPr>
              <a:defRPr sz="1050" b="0">
                <a:solidFill>
                  <a:srgbClr val="A8BAC8"/>
                </a:solidFill>
              </a:defRPr>
            </a:lvl6pPr>
            <a:lvl7pPr>
              <a:defRPr sz="1050" b="0">
                <a:solidFill>
                  <a:srgbClr val="A8BAC8"/>
                </a:solidFill>
              </a:defRPr>
            </a:lvl7pPr>
            <a:lvl8pPr>
              <a:defRPr sz="1050" b="0">
                <a:solidFill>
                  <a:srgbClr val="A8BAC8"/>
                </a:solidFill>
              </a:defRPr>
            </a:lvl8pPr>
            <a:lvl9pPr>
              <a:defRPr sz="105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8BAC8"/>
                </a:solidFill>
              </a:defRPr>
            </a:pPr>
            <a:r>
              <a:rPr sz="1050" b="0">
                <a:solidFill>
                  <a:srgbClr val="A8BAC8"/>
                </a:solidFill>
              </a:rPr>
              <a:t>Phase 1: EDA + baseline  •  Phase 2: transfer, tuning, deployment</a:t>
            </a:r>
          </a:p>
        </p:txBody>
      </p:sp>
    </p:spTree>
    <p:extLst>
      <p:ext uri="{BB962C8B-B14F-4D97-AF65-F5344CB8AC3E}">
        <p14:creationId xmlns:p14="http://schemas.microsoft.com/office/powerpoint/2010/main" val="1978119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A349F6-A891-4460-9CFE-BE7C10CC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CF721-10CB-4547-86A6-73C4D365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77768-D393-4F38-971E-98ADBED0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The business problem is trust across environments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2D140-4B14-4E68-B8A5-E22AD7C8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High laboratory accuracy is not enough if customer traffic looks different.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98187-31A8-4ED7-8E9F-368F61ED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6D959-63E9-49AA-A58B-0E98B24F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03CA1-28F1-4B86-9424-F1FED821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33550"/>
            <a:ext cx="3333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175EF-BDC6-494E-BB3D-D23F458E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33550"/>
            <a:ext cx="666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5D9E9-0528-4B82-B34D-63BEB894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050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Detection need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CBC0D-C332-46BC-934B-051745A7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05050"/>
            <a:ext cx="29051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Flag malicious network flows quickly enough to support triage and response while keeping false alarms operationally manageable.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C0946-DF4A-46AD-B84D-9941556B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33550"/>
            <a:ext cx="3333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A5ECD2-DF7C-4DF9-83E8-5D839D02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33550"/>
            <a:ext cx="666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F5A657-86ED-4396-9221-AC265CED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050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Deployment constraint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E8318-D86F-4D5A-85A6-61D36DA7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05050"/>
            <a:ext cx="29051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Customer traffic can be sensitive. Raw packets, identifiers, and proprietary behavior may not be allowed to leave the site.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EDE1E-262C-4C9E-8FDE-917CF451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33550"/>
            <a:ext cx="366712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47057-B640-4C72-8E49-5AA3DAF1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33550"/>
            <a:ext cx="666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A74B0-FB9D-4C8B-A15D-998B0189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05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Core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2DF8B2-8024-4A5D-A9A4-E9AE9142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05050"/>
            <a:ext cx="32385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A model may learn dataset-specific shortcuts, then lose attack recall or create alert fatigue when moved to another network.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2CA8B1-8990-4F58-8789-1F8581FC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2140B4-A3AD-4D5C-8724-8F1F022C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A6DD99-A334-4C45-983F-62678DEA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Success means useful detection plus stable behavior when the operating environment changes.</a:t>
            </a:r>
          </a:p>
        </p:txBody>
      </p:sp>
    </p:spTree>
    <p:extLst>
      <p:ext uri="{BB962C8B-B14F-4D97-AF65-F5344CB8AC3E}">
        <p14:creationId xmlns:p14="http://schemas.microsoft.com/office/powerpoint/2010/main" val="21077890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017F94-E524-4BAC-BE95-3AFB87DF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BEEBD-A184-4268-A7DB-4800AA7A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96B33-A106-4E49-92AA-497715A3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Two research questions guide the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7AB29-C521-4F8B-96DC-4712EEB6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The secondary question makes generalization measurable.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7729C-B909-4C65-A467-28492347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10193-565F-495B-A2A7-CA7055C8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94CED-D2C4-4CAB-B937-2F222900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953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30F19-D9C0-4609-BABC-391E5822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960FE-09BE-46FF-A612-F53F1FED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8120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Primary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7359B-C598-4EF0-ADE4-FBFC6939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52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29C7D8"/>
                </a:solidFill>
              </a:defRPr>
            </a:defPPr>
            <a:lvl1pPr>
              <a:defRPr sz="2325" b="1">
                <a:solidFill>
                  <a:srgbClr val="29C7D8"/>
                </a:solidFill>
              </a:defRPr>
            </a:lvl1pPr>
            <a:lvl2pPr>
              <a:defRPr sz="2325" b="1">
                <a:solidFill>
                  <a:srgbClr val="29C7D8"/>
                </a:solidFill>
              </a:defRPr>
            </a:lvl2pPr>
            <a:lvl3pPr>
              <a:defRPr sz="2325" b="1">
                <a:solidFill>
                  <a:srgbClr val="29C7D8"/>
                </a:solidFill>
              </a:defRPr>
            </a:lvl3pPr>
            <a:lvl4pPr>
              <a:defRPr sz="2325" b="1">
                <a:solidFill>
                  <a:srgbClr val="29C7D8"/>
                </a:solidFill>
              </a:defRPr>
            </a:lvl4pPr>
            <a:lvl5pPr>
              <a:defRPr sz="2325" b="1">
                <a:solidFill>
                  <a:srgbClr val="29C7D8"/>
                </a:solidFill>
              </a:defRPr>
            </a:lvl5pPr>
            <a:lvl6pPr>
              <a:defRPr sz="2325" b="1">
                <a:solidFill>
                  <a:srgbClr val="29C7D8"/>
                </a:solidFill>
              </a:defRPr>
            </a:lvl6pPr>
            <a:lvl7pPr>
              <a:defRPr sz="2325" b="1">
                <a:solidFill>
                  <a:srgbClr val="29C7D8"/>
                </a:solidFill>
              </a:defRPr>
            </a:lvl7pPr>
            <a:lvl8pPr>
              <a:defRPr sz="2325" b="1">
                <a:solidFill>
                  <a:srgbClr val="29C7D8"/>
                </a:solidFill>
              </a:defRPr>
            </a:lvl8pPr>
            <a:lvl9pPr>
              <a:defRPr sz="2325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9C7D8"/>
                </a:solidFill>
              </a:defRPr>
            </a:pPr>
            <a:r>
              <a:rPr sz="2325" b="1">
                <a:solidFill>
                  <a:srgbClr val="29C7D8"/>
                </a:solidFill>
              </a:rPr>
              <a:t>Q1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676467-9F99-4717-A1C7-DCDD4905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76550"/>
            <a:ext cx="4524375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Can supervised machine learning classify a network flow as benign or malicious using flow-level telemetry?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BE6BF-D248-4929-90BB-A1F3A0C1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4953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3285C-EB8A-433A-9F6E-CCD89971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666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B006E-EE55-4BC1-8AAB-07DB544A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Secondary 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2CE2DA-670D-49F8-8AA4-0219D442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452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2EC4A6"/>
                </a:solidFill>
              </a:defRPr>
            </a:defPPr>
            <a:lvl1pPr>
              <a:defRPr sz="2325" b="1">
                <a:solidFill>
                  <a:srgbClr val="2EC4A6"/>
                </a:solidFill>
              </a:defRPr>
            </a:lvl1pPr>
            <a:lvl2pPr>
              <a:defRPr sz="2325" b="1">
                <a:solidFill>
                  <a:srgbClr val="2EC4A6"/>
                </a:solidFill>
              </a:defRPr>
            </a:lvl2pPr>
            <a:lvl3pPr>
              <a:defRPr sz="2325" b="1">
                <a:solidFill>
                  <a:srgbClr val="2EC4A6"/>
                </a:solidFill>
              </a:defRPr>
            </a:lvl3pPr>
            <a:lvl4pPr>
              <a:defRPr sz="2325" b="1">
                <a:solidFill>
                  <a:srgbClr val="2EC4A6"/>
                </a:solidFill>
              </a:defRPr>
            </a:lvl4pPr>
            <a:lvl5pPr>
              <a:defRPr sz="2325" b="1">
                <a:solidFill>
                  <a:srgbClr val="2EC4A6"/>
                </a:solidFill>
              </a:defRPr>
            </a:lvl5pPr>
            <a:lvl6pPr>
              <a:defRPr sz="2325" b="1">
                <a:solidFill>
                  <a:srgbClr val="2EC4A6"/>
                </a:solidFill>
              </a:defRPr>
            </a:lvl6pPr>
            <a:lvl7pPr>
              <a:defRPr sz="2325" b="1">
                <a:solidFill>
                  <a:srgbClr val="2EC4A6"/>
                </a:solidFill>
              </a:defRPr>
            </a:lvl7pPr>
            <a:lvl8pPr>
              <a:defRPr sz="2325" b="1">
                <a:solidFill>
                  <a:srgbClr val="2EC4A6"/>
                </a:solidFill>
              </a:defRPr>
            </a:lvl8pPr>
            <a:lvl9pPr>
              <a:defRPr sz="2325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EC4A6"/>
                </a:solidFill>
              </a:defRPr>
            </a:pPr>
            <a:r>
              <a:rPr sz="2325" b="1">
                <a:solidFill>
                  <a:srgbClr val="2EC4A6"/>
                </a:solidFill>
              </a:rPr>
              <a:t>Q2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9B443-126D-4F25-8011-81D438AC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4524375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How well does a model trained on one intrusion-detection dataset transfer to traffic collected from a different network and year?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86E0A-A6CF-49C6-B861-6D2296A3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00650"/>
            <a:ext cx="2857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3F15F-4FBF-4546-A4C6-4F765FBE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200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F5F8FA"/>
                </a:solidFill>
              </a:defRPr>
            </a:defPPr>
            <a:lvl1pPr>
              <a:defRPr sz="975" b="1">
                <a:solidFill>
                  <a:srgbClr val="F5F8FA"/>
                </a:solidFill>
              </a:defRPr>
            </a:lvl1pPr>
            <a:lvl2pPr>
              <a:defRPr sz="975" b="1">
                <a:solidFill>
                  <a:srgbClr val="F5F8FA"/>
                </a:solidFill>
              </a:defRPr>
            </a:lvl2pPr>
            <a:lvl3pPr>
              <a:defRPr sz="975" b="1">
                <a:solidFill>
                  <a:srgbClr val="F5F8FA"/>
                </a:solidFill>
              </a:defRPr>
            </a:lvl3pPr>
            <a:lvl4pPr>
              <a:defRPr sz="975" b="1">
                <a:solidFill>
                  <a:srgbClr val="F5F8FA"/>
                </a:solidFill>
              </a:defRPr>
            </a:lvl4pPr>
            <a:lvl5pPr>
              <a:defRPr sz="975" b="1">
                <a:solidFill>
                  <a:srgbClr val="F5F8FA"/>
                </a:solidFill>
              </a:defRPr>
            </a:lvl5pPr>
            <a:lvl6pPr>
              <a:defRPr sz="975" b="1">
                <a:solidFill>
                  <a:srgbClr val="F5F8FA"/>
                </a:solidFill>
              </a:defRPr>
            </a:lvl6pPr>
            <a:lvl7pPr>
              <a:defRPr sz="975" b="1">
                <a:solidFill>
                  <a:srgbClr val="F5F8FA"/>
                </a:solidFill>
              </a:defRPr>
            </a:lvl7pPr>
            <a:lvl8pPr>
              <a:defRPr sz="975" b="1">
                <a:solidFill>
                  <a:srgbClr val="F5F8FA"/>
                </a:solidFill>
              </a:defRPr>
            </a:lvl8pPr>
            <a:lvl9pPr>
              <a:defRPr sz="97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5F8FA"/>
                </a:solidFill>
              </a:defRPr>
            </a:pPr>
            <a:r>
              <a:rPr sz="975" b="1">
                <a:solidFill>
                  <a:srgbClr val="F5F8FA"/>
                </a:solidFill>
              </a:rPr>
              <a:t>Binary target: benign vs attack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D9BE22-C25A-498D-802D-D7A9E8EB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00650"/>
            <a:ext cx="2428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20BAEA-3482-45A6-BE25-32E54873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2006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F5F8FA"/>
                </a:solidFill>
              </a:defRPr>
            </a:defPPr>
            <a:lvl1pPr>
              <a:defRPr sz="975" b="1">
                <a:solidFill>
                  <a:srgbClr val="F5F8FA"/>
                </a:solidFill>
              </a:defRPr>
            </a:lvl1pPr>
            <a:lvl2pPr>
              <a:defRPr sz="975" b="1">
                <a:solidFill>
                  <a:srgbClr val="F5F8FA"/>
                </a:solidFill>
              </a:defRPr>
            </a:lvl2pPr>
            <a:lvl3pPr>
              <a:defRPr sz="975" b="1">
                <a:solidFill>
                  <a:srgbClr val="F5F8FA"/>
                </a:solidFill>
              </a:defRPr>
            </a:lvl3pPr>
            <a:lvl4pPr>
              <a:defRPr sz="975" b="1">
                <a:solidFill>
                  <a:srgbClr val="F5F8FA"/>
                </a:solidFill>
              </a:defRPr>
            </a:lvl4pPr>
            <a:lvl5pPr>
              <a:defRPr sz="975" b="1">
                <a:solidFill>
                  <a:srgbClr val="F5F8FA"/>
                </a:solidFill>
              </a:defRPr>
            </a:lvl5pPr>
            <a:lvl6pPr>
              <a:defRPr sz="975" b="1">
                <a:solidFill>
                  <a:srgbClr val="F5F8FA"/>
                </a:solidFill>
              </a:defRPr>
            </a:lvl6pPr>
            <a:lvl7pPr>
              <a:defRPr sz="975" b="1">
                <a:solidFill>
                  <a:srgbClr val="F5F8FA"/>
                </a:solidFill>
              </a:defRPr>
            </a:lvl7pPr>
            <a:lvl8pPr>
              <a:defRPr sz="975" b="1">
                <a:solidFill>
                  <a:srgbClr val="F5F8FA"/>
                </a:solidFill>
              </a:defRPr>
            </a:lvl8pPr>
            <a:lvl9pPr>
              <a:defRPr sz="97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5F8FA"/>
                </a:solidFill>
              </a:defRPr>
            </a:pPr>
            <a:r>
              <a:rPr sz="975" b="1">
                <a:solidFill>
                  <a:srgbClr val="F5F8FA"/>
                </a:solidFill>
              </a:rPr>
              <a:t>Primary metric: macro F1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24F6C4-6A8D-408E-80BD-12480CF5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2B6DD5-B4B5-41C2-B983-BFAFFEA7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18A1A8-9EE9-485A-9942-AFB6C8EC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The project tests both detection quality and portability, which are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10840078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13D8C4-0FB6-4DC6-9054-3D647215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0D58E-D4F8-48EC-AB18-9DD1B9E3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350F0-4B73-4BA7-8281-E10EBD02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Two related datasets play different roles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9B161-B83B-41D4-87EA-42CA7EBD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Shared flow features enable transfer tests, while collection differences create realistic domain shift.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800EE-EA71-470E-85E3-75F01E80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B6A8D-2005-44C8-A13D-F07386CB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3B084-8E63-493A-B011-2192C7F5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4953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11211-7F91-4F2F-8D3B-61600570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928B7-D761-40D9-B869-F2DFE3C5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CICIDS2017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4FCBF-E93A-424A-B353-ACAF09C9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52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29C7D8"/>
                </a:solidFill>
              </a:defRPr>
            </a:defPPr>
            <a:lvl1pPr>
              <a:defRPr sz="2325" b="1">
                <a:solidFill>
                  <a:srgbClr val="29C7D8"/>
                </a:solidFill>
              </a:defRPr>
            </a:lvl1pPr>
            <a:lvl2pPr>
              <a:defRPr sz="2325" b="1">
                <a:solidFill>
                  <a:srgbClr val="29C7D8"/>
                </a:solidFill>
              </a:defRPr>
            </a:lvl2pPr>
            <a:lvl3pPr>
              <a:defRPr sz="2325" b="1">
                <a:solidFill>
                  <a:srgbClr val="29C7D8"/>
                </a:solidFill>
              </a:defRPr>
            </a:lvl3pPr>
            <a:lvl4pPr>
              <a:defRPr sz="2325" b="1">
                <a:solidFill>
                  <a:srgbClr val="29C7D8"/>
                </a:solidFill>
              </a:defRPr>
            </a:lvl4pPr>
            <a:lvl5pPr>
              <a:defRPr sz="2325" b="1">
                <a:solidFill>
                  <a:srgbClr val="29C7D8"/>
                </a:solidFill>
              </a:defRPr>
            </a:lvl5pPr>
            <a:lvl6pPr>
              <a:defRPr sz="2325" b="1">
                <a:solidFill>
                  <a:srgbClr val="29C7D8"/>
                </a:solidFill>
              </a:defRPr>
            </a:lvl6pPr>
            <a:lvl7pPr>
              <a:defRPr sz="2325" b="1">
                <a:solidFill>
                  <a:srgbClr val="29C7D8"/>
                </a:solidFill>
              </a:defRPr>
            </a:lvl7pPr>
            <a:lvl8pPr>
              <a:defRPr sz="2325" b="1">
                <a:solidFill>
                  <a:srgbClr val="29C7D8"/>
                </a:solidFill>
              </a:defRPr>
            </a:lvl8pPr>
            <a:lvl9pPr>
              <a:defRPr sz="2325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9C7D8"/>
                </a:solidFill>
              </a:defRPr>
            </a:pPr>
            <a:r>
              <a:rPr sz="2325" b="1">
                <a:solidFill>
                  <a:srgbClr val="29C7D8"/>
                </a:solidFill>
              </a:rPr>
              <a:t>2017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5B0B2-736F-4FC1-BB0C-7ED362DA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524375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Five daily files • about 2.10M flows • 75.36% benign • development and first-source training.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0D5F5-C0B0-4BDE-82E3-FCC39299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714500"/>
            <a:ext cx="4953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3822A-C3D3-40C3-8415-C78C08E2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71450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8D097-C2D0-41F6-ADB8-B450702A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8595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CSE-CIC-IDS2018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174A3-BD3D-4395-AB76-7875AA03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66950"/>
            <a:ext cx="452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2EC4A6"/>
                </a:solidFill>
              </a:defRPr>
            </a:defPPr>
            <a:lvl1pPr>
              <a:defRPr sz="2325" b="1">
                <a:solidFill>
                  <a:srgbClr val="2EC4A6"/>
                </a:solidFill>
              </a:defRPr>
            </a:lvl1pPr>
            <a:lvl2pPr>
              <a:defRPr sz="2325" b="1">
                <a:solidFill>
                  <a:srgbClr val="2EC4A6"/>
                </a:solidFill>
              </a:defRPr>
            </a:lvl2pPr>
            <a:lvl3pPr>
              <a:defRPr sz="2325" b="1">
                <a:solidFill>
                  <a:srgbClr val="2EC4A6"/>
                </a:solidFill>
              </a:defRPr>
            </a:lvl3pPr>
            <a:lvl4pPr>
              <a:defRPr sz="2325" b="1">
                <a:solidFill>
                  <a:srgbClr val="2EC4A6"/>
                </a:solidFill>
              </a:defRPr>
            </a:lvl4pPr>
            <a:lvl5pPr>
              <a:defRPr sz="2325" b="1">
                <a:solidFill>
                  <a:srgbClr val="2EC4A6"/>
                </a:solidFill>
              </a:defRPr>
            </a:lvl5pPr>
            <a:lvl6pPr>
              <a:defRPr sz="2325" b="1">
                <a:solidFill>
                  <a:srgbClr val="2EC4A6"/>
                </a:solidFill>
              </a:defRPr>
            </a:lvl6pPr>
            <a:lvl7pPr>
              <a:defRPr sz="2325" b="1">
                <a:solidFill>
                  <a:srgbClr val="2EC4A6"/>
                </a:solidFill>
              </a:defRPr>
            </a:lvl7pPr>
            <a:lvl8pPr>
              <a:defRPr sz="2325" b="1">
                <a:solidFill>
                  <a:srgbClr val="2EC4A6"/>
                </a:solidFill>
              </a:defRPr>
            </a:lvl8pPr>
            <a:lvl9pPr>
              <a:defRPr sz="2325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EC4A6"/>
                </a:solidFill>
              </a:defRPr>
            </a:pPr>
            <a:r>
              <a:rPr sz="2325" b="1">
                <a:solidFill>
                  <a:srgbClr val="2EC4A6"/>
                </a:solidFill>
              </a:rPr>
              <a:t>2018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764BAD-36AB-4CA0-9EDF-178100BF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4524375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Ten files • about 63.20M flows • 93.92% benign • second environment and transfer target.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0E6A43-8491-4152-9A60-3975E3D1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095875"/>
            <a:ext cx="1333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0A2DC-0FB5-4DE1-B432-9867EF8F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2920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2A4906-4D0B-4F0F-A1EA-C6A26E51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257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5B84B"/>
                </a:solidFill>
              </a:defRPr>
            </a:defPPr>
            <a:lvl1pPr>
              <a:defRPr sz="1050" b="1">
                <a:solidFill>
                  <a:srgbClr val="F5B84B"/>
                </a:solidFill>
              </a:defRPr>
            </a:lvl1pPr>
            <a:lvl2pPr>
              <a:defRPr sz="1050" b="1">
                <a:solidFill>
                  <a:srgbClr val="F5B84B"/>
                </a:solidFill>
              </a:defRPr>
            </a:lvl2pPr>
            <a:lvl3pPr>
              <a:defRPr sz="1050" b="1">
                <a:solidFill>
                  <a:srgbClr val="F5B84B"/>
                </a:solidFill>
              </a:defRPr>
            </a:lvl3pPr>
            <a:lvl4pPr>
              <a:defRPr sz="1050" b="1">
                <a:solidFill>
                  <a:srgbClr val="F5B84B"/>
                </a:solidFill>
              </a:defRPr>
            </a:lvl4pPr>
            <a:lvl5pPr>
              <a:defRPr sz="1050" b="1">
                <a:solidFill>
                  <a:srgbClr val="F5B84B"/>
                </a:solidFill>
              </a:defRPr>
            </a:lvl5pPr>
            <a:lvl6pPr>
              <a:defRPr sz="1050" b="1">
                <a:solidFill>
                  <a:srgbClr val="F5B84B"/>
                </a:solidFill>
              </a:defRPr>
            </a:lvl6pPr>
            <a:lvl7pPr>
              <a:defRPr sz="1050" b="1">
                <a:solidFill>
                  <a:srgbClr val="F5B84B"/>
                </a:solidFill>
              </a:defRPr>
            </a:lvl7pPr>
            <a:lvl8pPr>
              <a:defRPr sz="1050" b="1">
                <a:solidFill>
                  <a:srgbClr val="F5B84B"/>
                </a:solidFill>
              </a:defRPr>
            </a:lvl8pPr>
            <a:lvl9pPr>
              <a:defRPr sz="1050" b="1">
                <a:solidFill>
                  <a:srgbClr val="F5B84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5B84B"/>
                </a:solidFill>
              </a:defRPr>
            </a:pPr>
            <a:r>
              <a:rPr sz="1050" b="1">
                <a:solidFill>
                  <a:srgbClr val="F5B84B"/>
                </a:solidFill>
              </a:rPr>
              <a:t>Shared numeric feature intersection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BE0358-383E-4443-8675-943ABF78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F49F87-D828-4CA5-BD08-50D4C12E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CF6146-20CF-4659-B73E-68B5984D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The data supports a controlled cross-network experiment, not a claim of universal attack coverage.</a:t>
            </a:r>
          </a:p>
        </p:txBody>
      </p:sp>
    </p:spTree>
    <p:extLst>
      <p:ext uri="{BB962C8B-B14F-4D97-AF65-F5344CB8AC3E}">
        <p14:creationId xmlns:p14="http://schemas.microsoft.com/office/powerpoint/2010/main" val="18565994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144ADB-0251-4088-AB34-D1732812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3AF25-3E9E-4A11-AFD3-AEB8EC65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BB999-42FB-4E17-B50E-B966295E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EDA turns raw flow logs into model-ready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A06FF-42E5-4ECF-A866-E21BC89C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Every step reduces a specific analytical or deployment risk.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4556B-9D10-430A-949A-0FF316A4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58E65-1D0E-45C8-B777-D155D8DC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B694E9-F001-4295-8C38-EDE95DB1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C7A35-D61E-464C-99E0-05FED812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E3E9F-FA67-4E34-A421-407289A3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1  Inventory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53D29-0DB9-4C53-9E93-C68337A0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905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Files, schema, volume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CF17B-AB89-4FBD-8C45-20D377AF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09750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5F5F0-7DB5-4606-BC3A-CFB8B4A3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097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E271D-11D6-4F33-88F5-B242BCAE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812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2  Clean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A17AE-4FE8-49FA-932F-64B6A3D0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2905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NaN, inf, duplicates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9B546-3926-4363-90D4-4A55442D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9965D-DC2E-4D86-9B9D-ADBB2BEB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A6B5C9-6ACE-4D20-B15B-3B30D752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12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3  Engineer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600C71-5D15-4E4D-9997-61341551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2905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Rates, ratios, timing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F1DD11-7C51-454A-8B17-D737ACE9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71875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CB5226-C68E-493A-8A99-A3186A43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7187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FFA387-30F1-4A6F-89C6-B63EF596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4  Profile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2E764F-1C28-429E-9B9C-58A6FBA4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2905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Classes, protocols, 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1662E-FA64-44FF-9009-F8F6C29D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571875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B3E6EF-0EC8-4A29-A6A0-8722899E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57187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B57983-478F-4172-9643-57ED29B8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4332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5  Check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F01B52-E980-47DB-94BA-1A7D2171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43375"/>
            <a:ext cx="2905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Outliers, correlation, leakage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016597-8144-47BC-86D7-2099D2DB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571875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F82D99-A9D2-4E1E-A482-08FCF9B2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571875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D6A1F4-C613-45F0-806D-40CB734E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4332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6  Compare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0C61FA-CCC6-45D1-A0C9-47DACC09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43375"/>
            <a:ext cx="2905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2017 vs 2018 drift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E6402D-A740-4264-A735-F6A8AA05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A20C4A-CE3F-480C-A4E3-5DBE9F83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A456D8-83B3-451D-9153-59874348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EDA is used to protect the experiment from invalid values, leakage, imbalance, and domain mismatch.</a:t>
            </a:r>
          </a:p>
        </p:txBody>
      </p:sp>
    </p:spTree>
    <p:extLst>
      <p:ext uri="{BB962C8B-B14F-4D97-AF65-F5344CB8AC3E}">
        <p14:creationId xmlns:p14="http://schemas.microsoft.com/office/powerpoint/2010/main" val="10103844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EF3F3E-D81C-451C-801F-7D66181F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7B357-5B1B-405B-9757-E365D7EB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5E397-727D-4BC4-8DB6-89FF5BA5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EDA exposes five risks the model must survive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1F92F-9D94-482F-B329-78342A50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The strongest patterns are useful for prediction but can also become shortcuts.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E9310-5DE5-477D-8204-C44D2279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1BC65-364F-4966-85ED-9B70646F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96E57-DB1B-4687-8EB3-E8FDA188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ED9D8-274B-4F37-8453-57B297CF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71827"/>
                </a:solidFill>
              </a:defRPr>
            </a:defPPr>
            <a:lvl1pPr>
              <a:defRPr sz="975" b="1">
                <a:solidFill>
                  <a:srgbClr val="071827"/>
                </a:solidFill>
              </a:defRPr>
            </a:lvl1pPr>
            <a:lvl2pPr>
              <a:defRPr sz="975" b="1">
                <a:solidFill>
                  <a:srgbClr val="071827"/>
                </a:solidFill>
              </a:defRPr>
            </a:lvl2pPr>
            <a:lvl3pPr>
              <a:defRPr sz="975" b="1">
                <a:solidFill>
                  <a:srgbClr val="071827"/>
                </a:solidFill>
              </a:defRPr>
            </a:lvl3pPr>
            <a:lvl4pPr>
              <a:defRPr sz="975" b="1">
                <a:solidFill>
                  <a:srgbClr val="071827"/>
                </a:solidFill>
              </a:defRPr>
            </a:lvl4pPr>
            <a:lvl5pPr>
              <a:defRPr sz="975" b="1">
                <a:solidFill>
                  <a:srgbClr val="071827"/>
                </a:solidFill>
              </a:defRPr>
            </a:lvl5pPr>
            <a:lvl6pPr>
              <a:defRPr sz="975" b="1">
                <a:solidFill>
                  <a:srgbClr val="071827"/>
                </a:solidFill>
              </a:defRPr>
            </a:lvl6pPr>
            <a:lvl7pPr>
              <a:defRPr sz="975" b="1">
                <a:solidFill>
                  <a:srgbClr val="071827"/>
                </a:solidFill>
              </a:defRPr>
            </a:lvl7pPr>
            <a:lvl8pPr>
              <a:defRPr sz="975" b="1">
                <a:solidFill>
                  <a:srgbClr val="071827"/>
                </a:solidFill>
              </a:defRPr>
            </a:lvl8pPr>
            <a:lvl9pPr>
              <a:defRPr sz="975" b="1">
                <a:solidFill>
                  <a:srgbClr val="07182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71827"/>
                </a:solidFill>
              </a:defRPr>
            </a:pPr>
            <a:r>
              <a:rPr sz="975" b="1">
                <a:solidFill>
                  <a:srgbClr val="071827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7186A-6357-40FE-A0FF-6ECBFA99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14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Class imbalance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D5269-BEF6-4521-B64E-49BF0907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14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8BAC8"/>
                </a:solidFill>
              </a:defRPr>
            </a:defPPr>
            <a:lvl1pPr>
              <a:defRPr sz="1200" b="0">
                <a:solidFill>
                  <a:srgbClr val="A8BAC8"/>
                </a:solidFill>
              </a:defRPr>
            </a:lvl1pPr>
            <a:lvl2pPr>
              <a:defRPr sz="1200" b="0">
                <a:solidFill>
                  <a:srgbClr val="A8BAC8"/>
                </a:solidFill>
              </a:defRPr>
            </a:lvl2pPr>
            <a:lvl3pPr>
              <a:defRPr sz="1200" b="0">
                <a:solidFill>
                  <a:srgbClr val="A8BAC8"/>
                </a:solidFill>
              </a:defRPr>
            </a:lvl3pPr>
            <a:lvl4pPr>
              <a:defRPr sz="1200" b="0">
                <a:solidFill>
                  <a:srgbClr val="A8BAC8"/>
                </a:solidFill>
              </a:defRPr>
            </a:lvl4pPr>
            <a:lvl5pPr>
              <a:defRPr sz="1200" b="0">
                <a:solidFill>
                  <a:srgbClr val="A8BAC8"/>
                </a:solidFill>
              </a:defRPr>
            </a:lvl5pPr>
            <a:lvl6pPr>
              <a:defRPr sz="1200" b="0">
                <a:solidFill>
                  <a:srgbClr val="A8BAC8"/>
                </a:solidFill>
              </a:defRPr>
            </a:lvl6pPr>
            <a:lvl7pPr>
              <a:defRPr sz="1200" b="0">
                <a:solidFill>
                  <a:srgbClr val="A8BAC8"/>
                </a:solidFill>
              </a:defRPr>
            </a:lvl7pPr>
            <a:lvl8pPr>
              <a:defRPr sz="1200" b="0">
                <a:solidFill>
                  <a:srgbClr val="A8BAC8"/>
                </a:solidFill>
              </a:defRPr>
            </a:lvl8pPr>
            <a:lvl9pPr>
              <a:defRPr sz="120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8BAC8"/>
                </a:solidFill>
              </a:defRPr>
            </a:pPr>
            <a:r>
              <a:rPr sz="1200" b="0">
                <a:solidFill>
                  <a:srgbClr val="A8BAC8"/>
                </a:solidFill>
              </a:rPr>
              <a:t>Benign traffic dominates both datasets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0CE4B-2907-4B4E-B537-8BADCF95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4D9E7-E6A8-4A03-BF53-6C007B36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71827"/>
                </a:solidFill>
              </a:defRPr>
            </a:defPPr>
            <a:lvl1pPr>
              <a:defRPr sz="975" b="1">
                <a:solidFill>
                  <a:srgbClr val="071827"/>
                </a:solidFill>
              </a:defRPr>
            </a:lvl1pPr>
            <a:lvl2pPr>
              <a:defRPr sz="975" b="1">
                <a:solidFill>
                  <a:srgbClr val="071827"/>
                </a:solidFill>
              </a:defRPr>
            </a:lvl2pPr>
            <a:lvl3pPr>
              <a:defRPr sz="975" b="1">
                <a:solidFill>
                  <a:srgbClr val="071827"/>
                </a:solidFill>
              </a:defRPr>
            </a:lvl3pPr>
            <a:lvl4pPr>
              <a:defRPr sz="975" b="1">
                <a:solidFill>
                  <a:srgbClr val="071827"/>
                </a:solidFill>
              </a:defRPr>
            </a:lvl4pPr>
            <a:lvl5pPr>
              <a:defRPr sz="975" b="1">
                <a:solidFill>
                  <a:srgbClr val="071827"/>
                </a:solidFill>
              </a:defRPr>
            </a:lvl5pPr>
            <a:lvl6pPr>
              <a:defRPr sz="975" b="1">
                <a:solidFill>
                  <a:srgbClr val="071827"/>
                </a:solidFill>
              </a:defRPr>
            </a:lvl6pPr>
            <a:lvl7pPr>
              <a:defRPr sz="975" b="1">
                <a:solidFill>
                  <a:srgbClr val="071827"/>
                </a:solidFill>
              </a:defRPr>
            </a:lvl7pPr>
            <a:lvl8pPr>
              <a:defRPr sz="975" b="1">
                <a:solidFill>
                  <a:srgbClr val="071827"/>
                </a:solidFill>
              </a:defRPr>
            </a:lvl8pPr>
            <a:lvl9pPr>
              <a:defRPr sz="975" b="1">
                <a:solidFill>
                  <a:srgbClr val="07182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71827"/>
                </a:solidFill>
              </a:defRPr>
            </a:pPr>
            <a:r>
              <a:rPr sz="975" b="1">
                <a:solidFill>
                  <a:srgbClr val="071827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935AF-F9A3-431D-A02A-556CFF99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Heavy tails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B12537-3779-4CA4-BC37-84D85659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55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8BAC8"/>
                </a:solidFill>
              </a:defRPr>
            </a:defPPr>
            <a:lvl1pPr>
              <a:defRPr sz="1200" b="0">
                <a:solidFill>
                  <a:srgbClr val="A8BAC8"/>
                </a:solidFill>
              </a:defRPr>
            </a:lvl1pPr>
            <a:lvl2pPr>
              <a:defRPr sz="1200" b="0">
                <a:solidFill>
                  <a:srgbClr val="A8BAC8"/>
                </a:solidFill>
              </a:defRPr>
            </a:lvl2pPr>
            <a:lvl3pPr>
              <a:defRPr sz="1200" b="0">
                <a:solidFill>
                  <a:srgbClr val="A8BAC8"/>
                </a:solidFill>
              </a:defRPr>
            </a:lvl3pPr>
            <a:lvl4pPr>
              <a:defRPr sz="1200" b="0">
                <a:solidFill>
                  <a:srgbClr val="A8BAC8"/>
                </a:solidFill>
              </a:defRPr>
            </a:lvl4pPr>
            <a:lvl5pPr>
              <a:defRPr sz="1200" b="0">
                <a:solidFill>
                  <a:srgbClr val="A8BAC8"/>
                </a:solidFill>
              </a:defRPr>
            </a:lvl5pPr>
            <a:lvl6pPr>
              <a:defRPr sz="1200" b="0">
                <a:solidFill>
                  <a:srgbClr val="A8BAC8"/>
                </a:solidFill>
              </a:defRPr>
            </a:lvl6pPr>
            <a:lvl7pPr>
              <a:defRPr sz="1200" b="0">
                <a:solidFill>
                  <a:srgbClr val="A8BAC8"/>
                </a:solidFill>
              </a:defRPr>
            </a:lvl7pPr>
            <a:lvl8pPr>
              <a:defRPr sz="1200" b="0">
                <a:solidFill>
                  <a:srgbClr val="A8BAC8"/>
                </a:solidFill>
              </a:defRPr>
            </a:lvl8pPr>
            <a:lvl9pPr>
              <a:defRPr sz="120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8BAC8"/>
                </a:solidFill>
              </a:defRPr>
            </a:pPr>
            <a:r>
              <a:rPr sz="1200" b="0">
                <a:solidFill>
                  <a:srgbClr val="A8BAC8"/>
                </a:solidFill>
              </a:rPr>
              <a:t>Many volume and duration features are highly skewed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84F676-3668-4175-86D4-4BF4AE32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0D30A2-49C6-43F8-B1FA-30F7686F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71827"/>
                </a:solidFill>
              </a:defRPr>
            </a:defPPr>
            <a:lvl1pPr>
              <a:defRPr sz="975" b="1">
                <a:solidFill>
                  <a:srgbClr val="071827"/>
                </a:solidFill>
              </a:defRPr>
            </a:lvl1pPr>
            <a:lvl2pPr>
              <a:defRPr sz="975" b="1">
                <a:solidFill>
                  <a:srgbClr val="071827"/>
                </a:solidFill>
              </a:defRPr>
            </a:lvl2pPr>
            <a:lvl3pPr>
              <a:defRPr sz="975" b="1">
                <a:solidFill>
                  <a:srgbClr val="071827"/>
                </a:solidFill>
              </a:defRPr>
            </a:lvl3pPr>
            <a:lvl4pPr>
              <a:defRPr sz="975" b="1">
                <a:solidFill>
                  <a:srgbClr val="071827"/>
                </a:solidFill>
              </a:defRPr>
            </a:lvl4pPr>
            <a:lvl5pPr>
              <a:defRPr sz="975" b="1">
                <a:solidFill>
                  <a:srgbClr val="071827"/>
                </a:solidFill>
              </a:defRPr>
            </a:lvl5pPr>
            <a:lvl6pPr>
              <a:defRPr sz="975" b="1">
                <a:solidFill>
                  <a:srgbClr val="071827"/>
                </a:solidFill>
              </a:defRPr>
            </a:lvl6pPr>
            <a:lvl7pPr>
              <a:defRPr sz="975" b="1">
                <a:solidFill>
                  <a:srgbClr val="071827"/>
                </a:solidFill>
              </a:defRPr>
            </a:lvl7pPr>
            <a:lvl8pPr>
              <a:defRPr sz="975" b="1">
                <a:solidFill>
                  <a:srgbClr val="071827"/>
                </a:solidFill>
              </a:defRPr>
            </a:lvl8pPr>
            <a:lvl9pPr>
              <a:defRPr sz="975" b="1">
                <a:solidFill>
                  <a:srgbClr val="07182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71827"/>
                </a:solidFill>
              </a:defRPr>
            </a:pPr>
            <a:r>
              <a:rPr sz="975" b="1">
                <a:solidFill>
                  <a:srgbClr val="071827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B84DF-AEDC-4BEA-891A-6166EFAC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Redundancy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B4E35D-865A-4160-A360-D36DD6D4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766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8BAC8"/>
                </a:solidFill>
              </a:defRPr>
            </a:defPPr>
            <a:lvl1pPr>
              <a:defRPr sz="1200" b="0">
                <a:solidFill>
                  <a:srgbClr val="A8BAC8"/>
                </a:solidFill>
              </a:defRPr>
            </a:lvl1pPr>
            <a:lvl2pPr>
              <a:defRPr sz="1200" b="0">
                <a:solidFill>
                  <a:srgbClr val="A8BAC8"/>
                </a:solidFill>
              </a:defRPr>
            </a:lvl2pPr>
            <a:lvl3pPr>
              <a:defRPr sz="1200" b="0">
                <a:solidFill>
                  <a:srgbClr val="A8BAC8"/>
                </a:solidFill>
              </a:defRPr>
            </a:lvl3pPr>
            <a:lvl4pPr>
              <a:defRPr sz="1200" b="0">
                <a:solidFill>
                  <a:srgbClr val="A8BAC8"/>
                </a:solidFill>
              </a:defRPr>
            </a:lvl4pPr>
            <a:lvl5pPr>
              <a:defRPr sz="1200" b="0">
                <a:solidFill>
                  <a:srgbClr val="A8BAC8"/>
                </a:solidFill>
              </a:defRPr>
            </a:lvl5pPr>
            <a:lvl6pPr>
              <a:defRPr sz="1200" b="0">
                <a:solidFill>
                  <a:srgbClr val="A8BAC8"/>
                </a:solidFill>
              </a:defRPr>
            </a:lvl6pPr>
            <a:lvl7pPr>
              <a:defRPr sz="1200" b="0">
                <a:solidFill>
                  <a:srgbClr val="A8BAC8"/>
                </a:solidFill>
              </a:defRPr>
            </a:lvl7pPr>
            <a:lvl8pPr>
              <a:defRPr sz="1200" b="0">
                <a:solidFill>
                  <a:srgbClr val="A8BAC8"/>
                </a:solidFill>
              </a:defRPr>
            </a:lvl8pPr>
            <a:lvl9pPr>
              <a:defRPr sz="120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8BAC8"/>
                </a:solidFill>
              </a:defRPr>
            </a:pPr>
            <a:r>
              <a:rPr sz="1200" b="0">
                <a:solidFill>
                  <a:srgbClr val="A8BAC8"/>
                </a:solidFill>
              </a:rPr>
              <a:t>Correlated features can inflate complexity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A0DC52-27CA-46BB-AAE4-60BB55F2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D18C52-9175-407C-B418-24C81A74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71827"/>
                </a:solidFill>
              </a:defRPr>
            </a:defPPr>
            <a:lvl1pPr>
              <a:defRPr sz="975" b="1">
                <a:solidFill>
                  <a:srgbClr val="071827"/>
                </a:solidFill>
              </a:defRPr>
            </a:lvl1pPr>
            <a:lvl2pPr>
              <a:defRPr sz="975" b="1">
                <a:solidFill>
                  <a:srgbClr val="071827"/>
                </a:solidFill>
              </a:defRPr>
            </a:lvl2pPr>
            <a:lvl3pPr>
              <a:defRPr sz="975" b="1">
                <a:solidFill>
                  <a:srgbClr val="071827"/>
                </a:solidFill>
              </a:defRPr>
            </a:lvl3pPr>
            <a:lvl4pPr>
              <a:defRPr sz="975" b="1">
                <a:solidFill>
                  <a:srgbClr val="071827"/>
                </a:solidFill>
              </a:defRPr>
            </a:lvl4pPr>
            <a:lvl5pPr>
              <a:defRPr sz="975" b="1">
                <a:solidFill>
                  <a:srgbClr val="071827"/>
                </a:solidFill>
              </a:defRPr>
            </a:lvl5pPr>
            <a:lvl6pPr>
              <a:defRPr sz="975" b="1">
                <a:solidFill>
                  <a:srgbClr val="071827"/>
                </a:solidFill>
              </a:defRPr>
            </a:lvl6pPr>
            <a:lvl7pPr>
              <a:defRPr sz="975" b="1">
                <a:solidFill>
                  <a:srgbClr val="071827"/>
                </a:solidFill>
              </a:defRPr>
            </a:lvl7pPr>
            <a:lvl8pPr>
              <a:defRPr sz="975" b="1">
                <a:solidFill>
                  <a:srgbClr val="071827"/>
                </a:solidFill>
              </a:defRPr>
            </a:lvl8pPr>
            <a:lvl9pPr>
              <a:defRPr sz="975" b="1">
                <a:solidFill>
                  <a:srgbClr val="07182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71827"/>
                </a:solidFill>
              </a:defRPr>
            </a:pPr>
            <a:r>
              <a:rPr sz="975" b="1">
                <a:solidFill>
                  <a:srgbClr val="071827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139978-4B85-4DD9-AFC6-8BF54A9F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Lab shortcuts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B4CE7-304D-4A0F-955E-A348AED4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576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8BAC8"/>
                </a:solidFill>
              </a:defRPr>
            </a:defPPr>
            <a:lvl1pPr>
              <a:defRPr sz="1200" b="0">
                <a:solidFill>
                  <a:srgbClr val="A8BAC8"/>
                </a:solidFill>
              </a:defRPr>
            </a:lvl1pPr>
            <a:lvl2pPr>
              <a:defRPr sz="1200" b="0">
                <a:solidFill>
                  <a:srgbClr val="A8BAC8"/>
                </a:solidFill>
              </a:defRPr>
            </a:lvl2pPr>
            <a:lvl3pPr>
              <a:defRPr sz="1200" b="0">
                <a:solidFill>
                  <a:srgbClr val="A8BAC8"/>
                </a:solidFill>
              </a:defRPr>
            </a:lvl3pPr>
            <a:lvl4pPr>
              <a:defRPr sz="1200" b="0">
                <a:solidFill>
                  <a:srgbClr val="A8BAC8"/>
                </a:solidFill>
              </a:defRPr>
            </a:lvl4pPr>
            <a:lvl5pPr>
              <a:defRPr sz="1200" b="0">
                <a:solidFill>
                  <a:srgbClr val="A8BAC8"/>
                </a:solidFill>
              </a:defRPr>
            </a:lvl5pPr>
            <a:lvl6pPr>
              <a:defRPr sz="1200" b="0">
                <a:solidFill>
                  <a:srgbClr val="A8BAC8"/>
                </a:solidFill>
              </a:defRPr>
            </a:lvl6pPr>
            <a:lvl7pPr>
              <a:defRPr sz="1200" b="0">
                <a:solidFill>
                  <a:srgbClr val="A8BAC8"/>
                </a:solidFill>
              </a:defRPr>
            </a:lvl7pPr>
            <a:lvl8pPr>
              <a:defRPr sz="1200" b="0">
                <a:solidFill>
                  <a:srgbClr val="A8BAC8"/>
                </a:solidFill>
              </a:defRPr>
            </a:lvl8pPr>
            <a:lvl9pPr>
              <a:defRPr sz="120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8BAC8"/>
                </a:solidFill>
              </a:defRPr>
            </a:pPr>
            <a:r>
              <a:rPr sz="1200" b="0">
                <a:solidFill>
                  <a:srgbClr val="A8BAC8"/>
                </a:solidFill>
              </a:rPr>
              <a:t>Ports, protocol, windows, and schedules may encode the lab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5FC593-1F6E-47C8-A4AB-9D2CA8AF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2B46C7-EF82-4B5B-8EFC-823A7AA9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71827"/>
                </a:solidFill>
              </a:defRPr>
            </a:defPPr>
            <a:lvl1pPr>
              <a:defRPr sz="975" b="1">
                <a:solidFill>
                  <a:srgbClr val="071827"/>
                </a:solidFill>
              </a:defRPr>
            </a:lvl1pPr>
            <a:lvl2pPr>
              <a:defRPr sz="975" b="1">
                <a:solidFill>
                  <a:srgbClr val="071827"/>
                </a:solidFill>
              </a:defRPr>
            </a:lvl2pPr>
            <a:lvl3pPr>
              <a:defRPr sz="975" b="1">
                <a:solidFill>
                  <a:srgbClr val="071827"/>
                </a:solidFill>
              </a:defRPr>
            </a:lvl3pPr>
            <a:lvl4pPr>
              <a:defRPr sz="975" b="1">
                <a:solidFill>
                  <a:srgbClr val="071827"/>
                </a:solidFill>
              </a:defRPr>
            </a:lvl4pPr>
            <a:lvl5pPr>
              <a:defRPr sz="975" b="1">
                <a:solidFill>
                  <a:srgbClr val="071827"/>
                </a:solidFill>
              </a:defRPr>
            </a:lvl5pPr>
            <a:lvl6pPr>
              <a:defRPr sz="975" b="1">
                <a:solidFill>
                  <a:srgbClr val="071827"/>
                </a:solidFill>
              </a:defRPr>
            </a:lvl6pPr>
            <a:lvl7pPr>
              <a:defRPr sz="975" b="1">
                <a:solidFill>
                  <a:srgbClr val="071827"/>
                </a:solidFill>
              </a:defRPr>
            </a:lvl7pPr>
            <a:lvl8pPr>
              <a:defRPr sz="975" b="1">
                <a:solidFill>
                  <a:srgbClr val="071827"/>
                </a:solidFill>
              </a:defRPr>
            </a:lvl8pPr>
            <a:lvl9pPr>
              <a:defRPr sz="975" b="1">
                <a:solidFill>
                  <a:srgbClr val="07182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71827"/>
                </a:solidFill>
              </a:defRPr>
            </a:pPr>
            <a:r>
              <a:rPr sz="975" b="1">
                <a:solidFill>
                  <a:srgbClr val="071827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C7D98A-DA9A-4DF8-A01A-535ECBB9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387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Dataset drift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78B7FB-AD9E-4B9E-92F2-502BB9E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387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8BAC8"/>
                </a:solidFill>
              </a:defRPr>
            </a:defPPr>
            <a:lvl1pPr>
              <a:defRPr sz="1200" b="0">
                <a:solidFill>
                  <a:srgbClr val="A8BAC8"/>
                </a:solidFill>
              </a:defRPr>
            </a:lvl1pPr>
            <a:lvl2pPr>
              <a:defRPr sz="1200" b="0">
                <a:solidFill>
                  <a:srgbClr val="A8BAC8"/>
                </a:solidFill>
              </a:defRPr>
            </a:lvl2pPr>
            <a:lvl3pPr>
              <a:defRPr sz="1200" b="0">
                <a:solidFill>
                  <a:srgbClr val="A8BAC8"/>
                </a:solidFill>
              </a:defRPr>
            </a:lvl3pPr>
            <a:lvl4pPr>
              <a:defRPr sz="1200" b="0">
                <a:solidFill>
                  <a:srgbClr val="A8BAC8"/>
                </a:solidFill>
              </a:defRPr>
            </a:lvl4pPr>
            <a:lvl5pPr>
              <a:defRPr sz="1200" b="0">
                <a:solidFill>
                  <a:srgbClr val="A8BAC8"/>
                </a:solidFill>
              </a:defRPr>
            </a:lvl5pPr>
            <a:lvl6pPr>
              <a:defRPr sz="1200" b="0">
                <a:solidFill>
                  <a:srgbClr val="A8BAC8"/>
                </a:solidFill>
              </a:defRPr>
            </a:lvl6pPr>
            <a:lvl7pPr>
              <a:defRPr sz="1200" b="0">
                <a:solidFill>
                  <a:srgbClr val="A8BAC8"/>
                </a:solidFill>
              </a:defRPr>
            </a:lvl7pPr>
            <a:lvl8pPr>
              <a:defRPr sz="1200" b="0">
                <a:solidFill>
                  <a:srgbClr val="A8BAC8"/>
                </a:solidFill>
              </a:defRPr>
            </a:lvl8pPr>
            <a:lvl9pPr>
              <a:defRPr sz="120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8BAC8"/>
                </a:solidFill>
              </a:defRPr>
            </a:pPr>
            <a:r>
              <a:rPr sz="1200" b="0">
                <a:solidFill>
                  <a:srgbClr val="A8BAC8"/>
                </a:solidFill>
              </a:rPr>
              <a:t>Feature and class distributions change across years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36B346-C55B-469C-9376-9BD5968D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6007CC-8861-41C0-BD6C-3B17A500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5B84B"/>
                </a:solidFill>
              </a:defRPr>
            </a:defPPr>
            <a:lvl1pPr>
              <a:defRPr sz="900" b="1">
                <a:solidFill>
                  <a:srgbClr val="F5B84B"/>
                </a:solidFill>
              </a:defRPr>
            </a:lvl1pPr>
            <a:lvl2pPr>
              <a:defRPr sz="900" b="1">
                <a:solidFill>
                  <a:srgbClr val="F5B84B"/>
                </a:solidFill>
              </a:defRPr>
            </a:lvl2pPr>
            <a:lvl3pPr>
              <a:defRPr sz="900" b="1">
                <a:solidFill>
                  <a:srgbClr val="F5B84B"/>
                </a:solidFill>
              </a:defRPr>
            </a:lvl3pPr>
            <a:lvl4pPr>
              <a:defRPr sz="900" b="1">
                <a:solidFill>
                  <a:srgbClr val="F5B84B"/>
                </a:solidFill>
              </a:defRPr>
            </a:lvl4pPr>
            <a:lvl5pPr>
              <a:defRPr sz="900" b="1">
                <a:solidFill>
                  <a:srgbClr val="F5B84B"/>
                </a:solidFill>
              </a:defRPr>
            </a:lvl5pPr>
            <a:lvl6pPr>
              <a:defRPr sz="900" b="1">
                <a:solidFill>
                  <a:srgbClr val="F5B84B"/>
                </a:solidFill>
              </a:defRPr>
            </a:lvl6pPr>
            <a:lvl7pPr>
              <a:defRPr sz="900" b="1">
                <a:solidFill>
                  <a:srgbClr val="F5B84B"/>
                </a:solidFill>
              </a:defRPr>
            </a:lvl7pPr>
            <a:lvl8pPr>
              <a:defRPr sz="900" b="1">
                <a:solidFill>
                  <a:srgbClr val="F5B84B"/>
                </a:solidFill>
              </a:defRPr>
            </a:lvl8pPr>
            <a:lvl9pPr>
              <a:defRPr sz="900" b="1">
                <a:solidFill>
                  <a:srgbClr val="F5B84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5B84B"/>
                </a:solidFill>
              </a:defRPr>
            </a:pPr>
            <a:r>
              <a:rPr sz="900" b="1">
                <a:solidFill>
                  <a:srgbClr val="F5B84B"/>
                </a:solidFill>
              </a:rPr>
              <a:t>TAKEAWAY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84019C-09A3-4B77-8FC2-3F29699D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Random splits can overstate readiness when temporal and environmental shortcuts are present.</a:t>
            </a:r>
          </a:p>
        </p:txBody>
      </p:sp>
    </p:spTree>
    <p:extLst>
      <p:ext uri="{BB962C8B-B14F-4D97-AF65-F5344CB8AC3E}">
        <p14:creationId xmlns:p14="http://schemas.microsoft.com/office/powerpoint/2010/main" val="21045691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9E3A16-6A18-45C0-B11C-C526A3E9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80705-6A20-4FC1-A8D8-CC7562C3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46475-BB66-4F51-BD4B-F6124F06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Evaluation expands from familiar traffic to domain shift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02F04-C951-46C3-BE61-35D414EA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Each split answers a different operational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0AC10-C2DD-4277-8073-DAACA428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58942-96B0-4497-8E97-36BB0B5D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0AD16-BDCE-4EC4-90BB-AFDA0E78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286000" cy="2571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E2B7E-5607-4F49-90B6-02075CD0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45B13-B341-4B68-9817-20436CF8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1932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Random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74C53-F6FA-4861-9C11-F5AC3143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0032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29C7D8"/>
                </a:solidFill>
              </a:defRPr>
            </a:defPPr>
            <a:lvl1pPr>
              <a:defRPr sz="2325" b="1">
                <a:solidFill>
                  <a:srgbClr val="29C7D8"/>
                </a:solidFill>
              </a:defRPr>
            </a:lvl1pPr>
            <a:lvl2pPr>
              <a:defRPr sz="2325" b="1">
                <a:solidFill>
                  <a:srgbClr val="29C7D8"/>
                </a:solidFill>
              </a:defRPr>
            </a:lvl2pPr>
            <a:lvl3pPr>
              <a:defRPr sz="2325" b="1">
                <a:solidFill>
                  <a:srgbClr val="29C7D8"/>
                </a:solidFill>
              </a:defRPr>
            </a:lvl3pPr>
            <a:lvl4pPr>
              <a:defRPr sz="2325" b="1">
                <a:solidFill>
                  <a:srgbClr val="29C7D8"/>
                </a:solidFill>
              </a:defRPr>
            </a:lvl4pPr>
            <a:lvl5pPr>
              <a:defRPr sz="2325" b="1">
                <a:solidFill>
                  <a:srgbClr val="29C7D8"/>
                </a:solidFill>
              </a:defRPr>
            </a:lvl5pPr>
            <a:lvl6pPr>
              <a:defRPr sz="2325" b="1">
                <a:solidFill>
                  <a:srgbClr val="29C7D8"/>
                </a:solidFill>
              </a:defRPr>
            </a:lvl6pPr>
            <a:lvl7pPr>
              <a:defRPr sz="2325" b="1">
                <a:solidFill>
                  <a:srgbClr val="29C7D8"/>
                </a:solidFill>
              </a:defRPr>
            </a:lvl7pPr>
            <a:lvl8pPr>
              <a:defRPr sz="2325" b="1">
                <a:solidFill>
                  <a:srgbClr val="29C7D8"/>
                </a:solidFill>
              </a:defRPr>
            </a:lvl8pPr>
            <a:lvl9pPr>
              <a:defRPr sz="2325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9C7D8"/>
                </a:solidFill>
              </a:defRPr>
            </a:pPr>
            <a:r>
              <a:rPr sz="2325" b="1">
                <a:solidFill>
                  <a:srgbClr val="29C7D8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7D76C-3F17-4466-AD21-A7659BFB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14675"/>
            <a:ext cx="1857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Same distribution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Development 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26EDBE-1534-4887-A687-A0D103E7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0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990AE3-203F-40C0-9AE2-5EB92B19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670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5E7D4-B568-465C-8D57-6FA9817C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2286000" cy="2571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7A5FB8-0104-4836-A69A-FDE5FDA3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C926D-936A-4752-8EE1-C66FEC46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1932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Chronological split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A29BB-7B34-46B7-BEEB-1AC1B4FB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0032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2EC4A6"/>
                </a:solidFill>
              </a:defRPr>
            </a:defPPr>
            <a:lvl1pPr>
              <a:defRPr sz="2325" b="1">
                <a:solidFill>
                  <a:srgbClr val="2EC4A6"/>
                </a:solidFill>
              </a:defRPr>
            </a:lvl1pPr>
            <a:lvl2pPr>
              <a:defRPr sz="2325" b="1">
                <a:solidFill>
                  <a:srgbClr val="2EC4A6"/>
                </a:solidFill>
              </a:defRPr>
            </a:lvl2pPr>
            <a:lvl3pPr>
              <a:defRPr sz="2325" b="1">
                <a:solidFill>
                  <a:srgbClr val="2EC4A6"/>
                </a:solidFill>
              </a:defRPr>
            </a:lvl3pPr>
            <a:lvl4pPr>
              <a:defRPr sz="2325" b="1">
                <a:solidFill>
                  <a:srgbClr val="2EC4A6"/>
                </a:solidFill>
              </a:defRPr>
            </a:lvl4pPr>
            <a:lvl5pPr>
              <a:defRPr sz="2325" b="1">
                <a:solidFill>
                  <a:srgbClr val="2EC4A6"/>
                </a:solidFill>
              </a:defRPr>
            </a:lvl5pPr>
            <a:lvl6pPr>
              <a:defRPr sz="2325" b="1">
                <a:solidFill>
                  <a:srgbClr val="2EC4A6"/>
                </a:solidFill>
              </a:defRPr>
            </a:lvl6pPr>
            <a:lvl7pPr>
              <a:defRPr sz="2325" b="1">
                <a:solidFill>
                  <a:srgbClr val="2EC4A6"/>
                </a:solidFill>
              </a:defRPr>
            </a:lvl7pPr>
            <a:lvl8pPr>
              <a:defRPr sz="2325" b="1">
                <a:solidFill>
                  <a:srgbClr val="2EC4A6"/>
                </a:solidFill>
              </a:defRPr>
            </a:lvl8pPr>
            <a:lvl9pPr>
              <a:defRPr sz="2325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EC4A6"/>
                </a:solidFill>
              </a:defRPr>
            </a:pPr>
            <a:r>
              <a:rPr sz="2325" b="1">
                <a:solidFill>
                  <a:srgbClr val="2EC4A6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BE6B0F-7A32-4E28-94C1-F95D98E8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14675"/>
            <a:ext cx="1857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Later traffic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Temporal robustness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53793F-4993-4884-8790-4C3B288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8DDA0D-AC6D-40CF-8696-7F9D314A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670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F3B28B-E536-4980-B947-CDBCA196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47875"/>
            <a:ext cx="2286000" cy="2571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4D18DC-B9AB-4F76-8D91-5C722ECB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47875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29F107-9350-44A8-8C34-672E795F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1932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Cross-dataset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4CD906-E2E4-4B36-876A-9433650E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0032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F5B84B"/>
                </a:solidFill>
              </a:defRPr>
            </a:defPPr>
            <a:lvl1pPr>
              <a:defRPr sz="2325" b="1">
                <a:solidFill>
                  <a:srgbClr val="F5B84B"/>
                </a:solidFill>
              </a:defRPr>
            </a:lvl1pPr>
            <a:lvl2pPr>
              <a:defRPr sz="2325" b="1">
                <a:solidFill>
                  <a:srgbClr val="F5B84B"/>
                </a:solidFill>
              </a:defRPr>
            </a:lvl2pPr>
            <a:lvl3pPr>
              <a:defRPr sz="2325" b="1">
                <a:solidFill>
                  <a:srgbClr val="F5B84B"/>
                </a:solidFill>
              </a:defRPr>
            </a:lvl3pPr>
            <a:lvl4pPr>
              <a:defRPr sz="2325" b="1">
                <a:solidFill>
                  <a:srgbClr val="F5B84B"/>
                </a:solidFill>
              </a:defRPr>
            </a:lvl4pPr>
            <a:lvl5pPr>
              <a:defRPr sz="2325" b="1">
                <a:solidFill>
                  <a:srgbClr val="F5B84B"/>
                </a:solidFill>
              </a:defRPr>
            </a:lvl5pPr>
            <a:lvl6pPr>
              <a:defRPr sz="2325" b="1">
                <a:solidFill>
                  <a:srgbClr val="F5B84B"/>
                </a:solidFill>
              </a:defRPr>
            </a:lvl6pPr>
            <a:lvl7pPr>
              <a:defRPr sz="2325" b="1">
                <a:solidFill>
                  <a:srgbClr val="F5B84B"/>
                </a:solidFill>
              </a:defRPr>
            </a:lvl7pPr>
            <a:lvl8pPr>
              <a:defRPr sz="2325" b="1">
                <a:solidFill>
                  <a:srgbClr val="F5B84B"/>
                </a:solidFill>
              </a:defRPr>
            </a:lvl8pPr>
            <a:lvl9pPr>
              <a:defRPr sz="2325" b="1">
                <a:solidFill>
                  <a:srgbClr val="F5B84B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5B84B"/>
                </a:solidFill>
              </a:defRPr>
            </a:pPr>
            <a:r>
              <a:rPr sz="2325" b="1">
                <a:solidFill>
                  <a:srgbClr val="F5B84B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4DCB68-B00F-4D34-A25C-22359C04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14675"/>
            <a:ext cx="1857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Other network/year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Portability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AA1777-7647-4DDB-8DC3-AF144037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0DC734-5A7F-4888-BA45-3B1029A3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670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4E59D2-8999-48BA-A0E1-E50A7ECF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47875"/>
            <a:ext cx="2286000" cy="2571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D4AF28-71D3-4809-9F51-6B6F656C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47875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414E52-CCC4-4FC0-9E74-A42AAFF0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1932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Mixed training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E20CB6-76F0-40D0-A612-A6924117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0032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FF7A6E"/>
                </a:solidFill>
              </a:defRPr>
            </a:defPPr>
            <a:lvl1pPr>
              <a:defRPr sz="2325" b="1">
                <a:solidFill>
                  <a:srgbClr val="FF7A6E"/>
                </a:solidFill>
              </a:defRPr>
            </a:lvl1pPr>
            <a:lvl2pPr>
              <a:defRPr sz="2325" b="1">
                <a:solidFill>
                  <a:srgbClr val="FF7A6E"/>
                </a:solidFill>
              </a:defRPr>
            </a:lvl2pPr>
            <a:lvl3pPr>
              <a:defRPr sz="2325" b="1">
                <a:solidFill>
                  <a:srgbClr val="FF7A6E"/>
                </a:solidFill>
              </a:defRPr>
            </a:lvl3pPr>
            <a:lvl4pPr>
              <a:defRPr sz="2325" b="1">
                <a:solidFill>
                  <a:srgbClr val="FF7A6E"/>
                </a:solidFill>
              </a:defRPr>
            </a:lvl4pPr>
            <a:lvl5pPr>
              <a:defRPr sz="2325" b="1">
                <a:solidFill>
                  <a:srgbClr val="FF7A6E"/>
                </a:solidFill>
              </a:defRPr>
            </a:lvl5pPr>
            <a:lvl6pPr>
              <a:defRPr sz="2325" b="1">
                <a:solidFill>
                  <a:srgbClr val="FF7A6E"/>
                </a:solidFill>
              </a:defRPr>
            </a:lvl6pPr>
            <a:lvl7pPr>
              <a:defRPr sz="2325" b="1">
                <a:solidFill>
                  <a:srgbClr val="FF7A6E"/>
                </a:solidFill>
              </a:defRPr>
            </a:lvl7pPr>
            <a:lvl8pPr>
              <a:defRPr sz="2325" b="1">
                <a:solidFill>
                  <a:srgbClr val="FF7A6E"/>
                </a:solidFill>
              </a:defRPr>
            </a:lvl8pPr>
            <a:lvl9pPr>
              <a:defRPr sz="2325" b="1">
                <a:solidFill>
                  <a:srgbClr val="FF7A6E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7A6E"/>
                </a:solidFill>
              </a:defRPr>
            </a:pPr>
            <a:r>
              <a:rPr sz="2325" b="1">
                <a:solidFill>
                  <a:srgbClr val="FF7A6E"/>
                </a:solidFill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A67103-FA95-4167-8441-741AC5F0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14675"/>
            <a:ext cx="1857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Both networks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Known-environment robustness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6FBD58-0F81-4707-A080-73B0A008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48250"/>
            <a:ext cx="4762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43789D-43CF-48A7-A188-12296B5E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48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F5F8FA"/>
                </a:solidFill>
              </a:defRPr>
            </a:defPPr>
            <a:lvl1pPr>
              <a:defRPr sz="975" b="1">
                <a:solidFill>
                  <a:srgbClr val="F5F8FA"/>
                </a:solidFill>
              </a:defRPr>
            </a:lvl1pPr>
            <a:lvl2pPr>
              <a:defRPr sz="975" b="1">
                <a:solidFill>
                  <a:srgbClr val="F5F8FA"/>
                </a:solidFill>
              </a:defRPr>
            </a:lvl2pPr>
            <a:lvl3pPr>
              <a:defRPr sz="975" b="1">
                <a:solidFill>
                  <a:srgbClr val="F5F8FA"/>
                </a:solidFill>
              </a:defRPr>
            </a:lvl3pPr>
            <a:lvl4pPr>
              <a:defRPr sz="975" b="1">
                <a:solidFill>
                  <a:srgbClr val="F5F8FA"/>
                </a:solidFill>
              </a:defRPr>
            </a:lvl4pPr>
            <a:lvl5pPr>
              <a:defRPr sz="975" b="1">
                <a:solidFill>
                  <a:srgbClr val="F5F8FA"/>
                </a:solidFill>
              </a:defRPr>
            </a:lvl5pPr>
            <a:lvl6pPr>
              <a:defRPr sz="975" b="1">
                <a:solidFill>
                  <a:srgbClr val="F5F8FA"/>
                </a:solidFill>
              </a:defRPr>
            </a:lvl6pPr>
            <a:lvl7pPr>
              <a:defRPr sz="975" b="1">
                <a:solidFill>
                  <a:srgbClr val="F5F8FA"/>
                </a:solidFill>
              </a:defRPr>
            </a:lvl7pPr>
            <a:lvl8pPr>
              <a:defRPr sz="975" b="1">
                <a:solidFill>
                  <a:srgbClr val="F5F8FA"/>
                </a:solidFill>
              </a:defRPr>
            </a:lvl8pPr>
            <a:lvl9pPr>
              <a:defRPr sz="97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5F8FA"/>
                </a:solidFill>
              </a:defRPr>
            </a:pPr>
            <a:r>
              <a:rPr sz="975" b="1">
                <a:solidFill>
                  <a:srgbClr val="F5F8FA"/>
                </a:solidFill>
              </a:rPr>
              <a:t>Report macro F1 + attack recall + false-positive rate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AB741D-C937-4932-BADF-604A0A52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477CD4-C861-4D2E-A52E-F1B46C3F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63C7DA-69E2-43ED-B228-8683B316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Chronological and transfer tests provide the strongest evidence for deployment decisions.</a:t>
            </a:r>
          </a:p>
        </p:txBody>
      </p:sp>
    </p:spTree>
    <p:extLst>
      <p:ext uri="{BB962C8B-B14F-4D97-AF65-F5344CB8AC3E}">
        <p14:creationId xmlns:p14="http://schemas.microsoft.com/office/powerpoint/2010/main" val="5893531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C8BB3-F030-4988-989C-BF6B6E92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0BC4D-23D8-4C78-A04B-61A47AD2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9DB13-C1D1-43C2-B866-413C4AC1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Logistic Regression establishes an interpretable 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FD06B-9AA3-48BF-B6D5-0ACB5C19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Tuning improves multiclass results, but does not remove the cross-network challenge.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90389-62DD-49D2-94CC-4ACA8A25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1BF8D-F56C-4E52-A0F7-36B5F77A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08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689F93C5-244A-4531-95F0-F85E6CCCF411}"/>
              </a:ext>
            </a:extLst>
          </p:cNvPr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685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6869be89e74ea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F5A9A-4877-4720-A07E-04CB9594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33550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Exact comparison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89954-C5F6-464D-B386-CF45077422C3}"/>
              </a:ext>
            </a:extLst>
          </p:cNvPr>
          <p:cNvGraphicFramePr/>
          <p:nvPr/>
        </p:nvGraphicFramePr>
        <p:xfrm>
          <a:off xmlns:a="http://schemas.openxmlformats.org/drawingml/2006/main" x="7715250" y="2047875"/>
          <a:ext xmlns:a="http://schemas.openxmlformats.org/drawingml/2006/main" cx="3381375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647700"/>
                <a:gridCol w="647700"/>
                <a:gridCol w="704850"/>
              </a:tblGrid>
              <a:tr h="48815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Evaluation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Base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Tuned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Change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Random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0.824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0.830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+0.006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Chronological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0.728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0.775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+0.047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Attack macro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0.710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0.760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+0.050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BF6FB-CF3B-484E-9B8A-5698B53B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43375"/>
            <a:ext cx="338137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5F083-90D4-4F6C-8E22-CFE4B4E3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43375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2C5A9-1CE6-4BDE-AA79-F30D06B2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148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Tuning choice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52020-F3D9-4889-83FA-E02CEAE0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1487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Unweighted L2, C=1.0 for multiclass. Binary tuning did not improve the primary detector.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0FAAD5-ED75-4834-B772-C68544BE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02E3EF-79F7-474E-A22C-FFCC9D5F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519C11-6F55-406C-80E8-1A217492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Use the tuned multiclass result for consistency, but retain the original binary baseline for transfer tests.</a:t>
            </a:r>
          </a:p>
        </p:txBody>
      </p:sp>
    </p:spTree>
    <p:extLst>
      <p:ext uri="{BB962C8B-B14F-4D97-AF65-F5344CB8AC3E}">
        <p14:creationId xmlns:p14="http://schemas.microsoft.com/office/powerpoint/2010/main" val="6376598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F860EA-C693-4FFD-A038-3B9E4C82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9BEDC-E694-4249-8B23-4190E3F9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DEB32-9056-4B2E-8B31-140FAA55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Tree ensembles lead the chronological benchmark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78904-7235-4656-9BC8-7AC33D40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Model diversity tests linear, nonlinear, bagging, boosting, and neural approaches.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E751F-F7C5-44E1-ADF6-F04AC165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6D593-4F92-474B-B05A-3E7AE786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09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9A2BCCBF-D587-4749-9326-2E72270D5F61}"/>
              </a:ext>
            </a:extLst>
          </p:cNvPr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7429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a1ffcf3d724c0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060DF-FB79-4FA1-B454-70966682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621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How to read the ranking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ED277-F03E-495C-8D9F-8EF9272B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52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6B7FA-92BC-480D-8790-B207DEF2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52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071827"/>
                </a:solidFill>
              </a:defRPr>
            </a:defPPr>
            <a:lvl1pPr>
              <a:defRPr sz="900" b="1">
                <a:solidFill>
                  <a:srgbClr val="071827"/>
                </a:solidFill>
              </a:defRPr>
            </a:lvl1pPr>
            <a:lvl2pPr>
              <a:defRPr sz="900" b="1">
                <a:solidFill>
                  <a:srgbClr val="071827"/>
                </a:solidFill>
              </a:defRPr>
            </a:lvl2pPr>
            <a:lvl3pPr>
              <a:defRPr sz="900" b="1">
                <a:solidFill>
                  <a:srgbClr val="071827"/>
                </a:solidFill>
              </a:defRPr>
            </a:lvl3pPr>
            <a:lvl4pPr>
              <a:defRPr sz="900" b="1">
                <a:solidFill>
                  <a:srgbClr val="071827"/>
                </a:solidFill>
              </a:defRPr>
            </a:lvl4pPr>
            <a:lvl5pPr>
              <a:defRPr sz="900" b="1">
                <a:solidFill>
                  <a:srgbClr val="071827"/>
                </a:solidFill>
              </a:defRPr>
            </a:lvl5pPr>
            <a:lvl6pPr>
              <a:defRPr sz="900" b="1">
                <a:solidFill>
                  <a:srgbClr val="071827"/>
                </a:solidFill>
              </a:defRPr>
            </a:lvl6pPr>
            <a:lvl7pPr>
              <a:defRPr sz="900" b="1">
                <a:solidFill>
                  <a:srgbClr val="071827"/>
                </a:solidFill>
              </a:defRPr>
            </a:lvl7pPr>
            <a:lvl8pPr>
              <a:defRPr sz="900" b="1">
                <a:solidFill>
                  <a:srgbClr val="071827"/>
                </a:solidFill>
              </a:defRPr>
            </a:lvl8pPr>
            <a:lvl9pPr>
              <a:defRPr sz="900" b="1">
                <a:solidFill>
                  <a:srgbClr val="07182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71827"/>
                </a:solidFill>
              </a:defRPr>
            </a:pPr>
            <a:r>
              <a:rPr sz="900" b="1">
                <a:solidFill>
                  <a:srgbClr val="071827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17E754-B3C6-4DC8-B87A-117F6F52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193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Top performer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C55BA-5FA7-42DC-B4EF-C09EF664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76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A8BAC8"/>
                </a:solidFill>
              </a:defRPr>
            </a:defPPr>
            <a:lvl1pPr>
              <a:defRPr sz="1050" b="0">
                <a:solidFill>
                  <a:srgbClr val="A8BAC8"/>
                </a:solidFill>
              </a:defRPr>
            </a:lvl1pPr>
            <a:lvl2pPr>
              <a:defRPr sz="1050" b="0">
                <a:solidFill>
                  <a:srgbClr val="A8BAC8"/>
                </a:solidFill>
              </a:defRPr>
            </a:lvl2pPr>
            <a:lvl3pPr>
              <a:defRPr sz="1050" b="0">
                <a:solidFill>
                  <a:srgbClr val="A8BAC8"/>
                </a:solidFill>
              </a:defRPr>
            </a:lvl3pPr>
            <a:lvl4pPr>
              <a:defRPr sz="1050" b="0">
                <a:solidFill>
                  <a:srgbClr val="A8BAC8"/>
                </a:solidFill>
              </a:defRPr>
            </a:lvl4pPr>
            <a:lvl5pPr>
              <a:defRPr sz="1050" b="0">
                <a:solidFill>
                  <a:srgbClr val="A8BAC8"/>
                </a:solidFill>
              </a:defRPr>
            </a:lvl5pPr>
            <a:lvl6pPr>
              <a:defRPr sz="1050" b="0">
                <a:solidFill>
                  <a:srgbClr val="A8BAC8"/>
                </a:solidFill>
              </a:defRPr>
            </a:lvl6pPr>
            <a:lvl7pPr>
              <a:defRPr sz="1050" b="0">
                <a:solidFill>
                  <a:srgbClr val="A8BAC8"/>
                </a:solidFill>
              </a:defRPr>
            </a:lvl7pPr>
            <a:lvl8pPr>
              <a:defRPr sz="1050" b="0">
                <a:solidFill>
                  <a:srgbClr val="A8BAC8"/>
                </a:solidFill>
              </a:defRPr>
            </a:lvl8pPr>
            <a:lvl9pPr>
              <a:defRPr sz="105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8BAC8"/>
                </a:solidFill>
              </a:defRPr>
            </a:pPr>
            <a:r>
              <a:rPr sz="1050" b="0">
                <a:solidFill>
                  <a:srgbClr val="A8BAC8"/>
                </a:solidFill>
              </a:rPr>
              <a:t>HistGradientBoosting reaches 0.924 macro F1.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8F5493-09AB-4982-A192-D610D977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86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D7CE0-9193-4EAD-A704-2B5B2D22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861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071827"/>
                </a:solidFill>
              </a:defRPr>
            </a:defPPr>
            <a:lvl1pPr>
              <a:defRPr sz="900" b="1">
                <a:solidFill>
                  <a:srgbClr val="071827"/>
                </a:solidFill>
              </a:defRPr>
            </a:lvl1pPr>
            <a:lvl2pPr>
              <a:defRPr sz="900" b="1">
                <a:solidFill>
                  <a:srgbClr val="071827"/>
                </a:solidFill>
              </a:defRPr>
            </a:lvl2pPr>
            <a:lvl3pPr>
              <a:defRPr sz="900" b="1">
                <a:solidFill>
                  <a:srgbClr val="071827"/>
                </a:solidFill>
              </a:defRPr>
            </a:lvl3pPr>
            <a:lvl4pPr>
              <a:defRPr sz="900" b="1">
                <a:solidFill>
                  <a:srgbClr val="071827"/>
                </a:solidFill>
              </a:defRPr>
            </a:lvl4pPr>
            <a:lvl5pPr>
              <a:defRPr sz="900" b="1">
                <a:solidFill>
                  <a:srgbClr val="071827"/>
                </a:solidFill>
              </a:defRPr>
            </a:lvl5pPr>
            <a:lvl6pPr>
              <a:defRPr sz="900" b="1">
                <a:solidFill>
                  <a:srgbClr val="071827"/>
                </a:solidFill>
              </a:defRPr>
            </a:lvl6pPr>
            <a:lvl7pPr>
              <a:defRPr sz="900" b="1">
                <a:solidFill>
                  <a:srgbClr val="071827"/>
                </a:solidFill>
              </a:defRPr>
            </a:lvl7pPr>
            <a:lvl8pPr>
              <a:defRPr sz="900" b="1">
                <a:solidFill>
                  <a:srgbClr val="071827"/>
                </a:solidFill>
              </a:defRPr>
            </a:lvl8pPr>
            <a:lvl9pPr>
              <a:defRPr sz="900" b="1">
                <a:solidFill>
                  <a:srgbClr val="07182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71827"/>
                </a:solidFill>
              </a:defRPr>
            </a:pPr>
            <a:r>
              <a:rPr sz="900" b="1">
                <a:solidFill>
                  <a:srgbClr val="071827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9C905-89D5-4AA8-8AD3-635F5432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527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Close finish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5588C-0406-44BA-BFC4-7FB40BAC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4099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A8BAC8"/>
                </a:solidFill>
              </a:defRPr>
            </a:defPPr>
            <a:lvl1pPr>
              <a:defRPr sz="1050" b="0">
                <a:solidFill>
                  <a:srgbClr val="A8BAC8"/>
                </a:solidFill>
              </a:defRPr>
            </a:lvl1pPr>
            <a:lvl2pPr>
              <a:defRPr sz="1050" b="0">
                <a:solidFill>
                  <a:srgbClr val="A8BAC8"/>
                </a:solidFill>
              </a:defRPr>
            </a:lvl2pPr>
            <a:lvl3pPr>
              <a:defRPr sz="1050" b="0">
                <a:solidFill>
                  <a:srgbClr val="A8BAC8"/>
                </a:solidFill>
              </a:defRPr>
            </a:lvl3pPr>
            <a:lvl4pPr>
              <a:defRPr sz="1050" b="0">
                <a:solidFill>
                  <a:srgbClr val="A8BAC8"/>
                </a:solidFill>
              </a:defRPr>
            </a:lvl4pPr>
            <a:lvl5pPr>
              <a:defRPr sz="1050" b="0">
                <a:solidFill>
                  <a:srgbClr val="A8BAC8"/>
                </a:solidFill>
              </a:defRPr>
            </a:lvl5pPr>
            <a:lvl6pPr>
              <a:defRPr sz="1050" b="0">
                <a:solidFill>
                  <a:srgbClr val="A8BAC8"/>
                </a:solidFill>
              </a:defRPr>
            </a:lvl6pPr>
            <a:lvl7pPr>
              <a:defRPr sz="1050" b="0">
                <a:solidFill>
                  <a:srgbClr val="A8BAC8"/>
                </a:solidFill>
              </a:defRPr>
            </a:lvl7pPr>
            <a:lvl8pPr>
              <a:defRPr sz="1050" b="0">
                <a:solidFill>
                  <a:srgbClr val="A8BAC8"/>
                </a:solidFill>
              </a:defRPr>
            </a:lvl8pPr>
            <a:lvl9pPr>
              <a:defRPr sz="105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8BAC8"/>
                </a:solidFill>
              </a:defRPr>
            </a:pPr>
            <a:r>
              <a:rPr sz="1050" b="0">
                <a:solidFill>
                  <a:srgbClr val="A8BAC8"/>
                </a:solidFill>
              </a:rPr>
              <a:t>Only 0.013 separates the top three models.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D3E01-452A-45BB-9F26-0540C001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19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A1F1C-3D3D-4642-BC42-BBA63C78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195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071827"/>
                </a:solidFill>
              </a:defRPr>
            </a:defPPr>
            <a:lvl1pPr>
              <a:defRPr sz="900" b="1">
                <a:solidFill>
                  <a:srgbClr val="071827"/>
                </a:solidFill>
              </a:defRPr>
            </a:lvl1pPr>
            <a:lvl2pPr>
              <a:defRPr sz="900" b="1">
                <a:solidFill>
                  <a:srgbClr val="071827"/>
                </a:solidFill>
              </a:defRPr>
            </a:lvl2pPr>
            <a:lvl3pPr>
              <a:defRPr sz="900" b="1">
                <a:solidFill>
                  <a:srgbClr val="071827"/>
                </a:solidFill>
              </a:defRPr>
            </a:lvl3pPr>
            <a:lvl4pPr>
              <a:defRPr sz="900" b="1">
                <a:solidFill>
                  <a:srgbClr val="071827"/>
                </a:solidFill>
              </a:defRPr>
            </a:lvl4pPr>
            <a:lvl5pPr>
              <a:defRPr sz="900" b="1">
                <a:solidFill>
                  <a:srgbClr val="071827"/>
                </a:solidFill>
              </a:defRPr>
            </a:lvl5pPr>
            <a:lvl6pPr>
              <a:defRPr sz="900" b="1">
                <a:solidFill>
                  <a:srgbClr val="071827"/>
                </a:solidFill>
              </a:defRPr>
            </a:lvl6pPr>
            <a:lvl7pPr>
              <a:defRPr sz="900" b="1">
                <a:solidFill>
                  <a:srgbClr val="071827"/>
                </a:solidFill>
              </a:defRPr>
            </a:lvl7pPr>
            <a:lvl8pPr>
              <a:defRPr sz="900" b="1">
                <a:solidFill>
                  <a:srgbClr val="071827"/>
                </a:solidFill>
              </a:defRPr>
            </a:lvl8pPr>
            <a:lvl9pPr>
              <a:defRPr sz="900" b="1">
                <a:solidFill>
                  <a:srgbClr val="07182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71827"/>
                </a:solidFill>
              </a:defRPr>
            </a:pPr>
            <a:r>
              <a:rPr sz="900" b="1">
                <a:solidFill>
                  <a:srgbClr val="071827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2AA286-6A4E-4859-9102-6A084F55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862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Evaluation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8C9BA5-339E-44AD-A49E-D5144BBE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434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A8BAC8"/>
                </a:solidFill>
              </a:defRPr>
            </a:defPPr>
            <a:lvl1pPr>
              <a:defRPr sz="1050" b="0">
                <a:solidFill>
                  <a:srgbClr val="A8BAC8"/>
                </a:solidFill>
              </a:defRPr>
            </a:lvl1pPr>
            <a:lvl2pPr>
              <a:defRPr sz="1050" b="0">
                <a:solidFill>
                  <a:srgbClr val="A8BAC8"/>
                </a:solidFill>
              </a:defRPr>
            </a:lvl2pPr>
            <a:lvl3pPr>
              <a:defRPr sz="1050" b="0">
                <a:solidFill>
                  <a:srgbClr val="A8BAC8"/>
                </a:solidFill>
              </a:defRPr>
            </a:lvl3pPr>
            <a:lvl4pPr>
              <a:defRPr sz="1050" b="0">
                <a:solidFill>
                  <a:srgbClr val="A8BAC8"/>
                </a:solidFill>
              </a:defRPr>
            </a:lvl4pPr>
            <a:lvl5pPr>
              <a:defRPr sz="1050" b="0">
                <a:solidFill>
                  <a:srgbClr val="A8BAC8"/>
                </a:solidFill>
              </a:defRPr>
            </a:lvl5pPr>
            <a:lvl6pPr>
              <a:defRPr sz="1050" b="0">
                <a:solidFill>
                  <a:srgbClr val="A8BAC8"/>
                </a:solidFill>
              </a:defRPr>
            </a:lvl6pPr>
            <a:lvl7pPr>
              <a:defRPr sz="1050" b="0">
                <a:solidFill>
                  <a:srgbClr val="A8BAC8"/>
                </a:solidFill>
              </a:defRPr>
            </a:lvl7pPr>
            <a:lvl8pPr>
              <a:defRPr sz="1050" b="0">
                <a:solidFill>
                  <a:srgbClr val="A8BAC8"/>
                </a:solidFill>
              </a:defRPr>
            </a:lvl8pPr>
            <a:lvl9pPr>
              <a:defRPr sz="105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8BAC8"/>
                </a:solidFill>
              </a:defRPr>
            </a:pPr>
            <a:r>
              <a:rPr sz="1050" b="0">
                <a:solidFill>
                  <a:srgbClr val="A8BAC8"/>
                </a:solidFill>
              </a:rPr>
              <a:t>This ranking uses the chronological split. Transfer is tested separately.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677FA7-D5FA-4708-9FE0-BE0445DF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1F16DD-4D89-42FE-B087-BCEFF0FC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FC703D-2F6A-4B7C-94A1-A26BC598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HistGradientBoosting is strongest on this split; cross-network testing is still required before deployment.</a:t>
            </a:r>
          </a:p>
        </p:txBody>
      </p:sp>
    </p:spTree>
    <p:extLst>
      <p:ext uri="{BB962C8B-B14F-4D97-AF65-F5344CB8AC3E}">
        <p14:creationId xmlns:p14="http://schemas.microsoft.com/office/powerpoint/2010/main" val="1992300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A532D-B9AC-410D-BA3B-075FCC4D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D7429-2730-46D1-B546-A8688D13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EF97B-4A1D-46A6-A45B-ED0FA6D1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Tuning helps the MLP, but not the leading ensembles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0858B-369D-4F9A-97AD-EADA104F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The base configurations were already near the useful region of the search space.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A17CC-ACCD-4001-9B88-06B9AA25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2F3A5-C8EA-4056-905D-82F18700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10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E1EBD0D7-B51A-4589-A437-249F67936662}"/>
              </a:ext>
            </a:extLst>
          </p:cNvPr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7620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2f35224cfc444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0D2B71-EB90-448E-9ACB-6CA13C60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859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Base versus tuned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627A8-7B9F-49E2-8946-3C9E57261969}"/>
              </a:ext>
            </a:extLst>
          </p:cNvPr>
          <p:cNvGraphicFramePr/>
          <p:nvPr/>
        </p:nvGraphicFramePr>
        <p:xfrm>
          <a:off xmlns:a="http://schemas.openxmlformats.org/drawingml/2006/main" x="8334375" y="2000250"/>
          <a:ext xmlns:a="http://schemas.openxmlformats.org/drawingml/2006/main" cx="31432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638175"/>
                <a:gridCol w="638175"/>
                <a:gridCol w="771525"/>
              </a:tblGrid>
              <a:tr h="4762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Model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Base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Tuned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Change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HistGB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0.924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0.920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-0.004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LightGBM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0.918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0.918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0.000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XGBoost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0.911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0.905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-0.006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Extra Trees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0.892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0.892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0.000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Random Forest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0.891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0.891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0.000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MLP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0.731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0.807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+0.076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8A78D-BA47-4A02-B1FC-18246152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B5CF9-113D-45A7-B420-188CB03A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4592B-D544-457E-91C8-6FFA55AE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Tuning is most valuable where underfitting or optimization choices are the bottleneck.</a:t>
            </a:r>
          </a:p>
        </p:txBody>
      </p:sp>
    </p:spTree>
    <p:extLst>
      <p:ext uri="{BB962C8B-B14F-4D97-AF65-F5344CB8AC3E}">
        <p14:creationId xmlns:p14="http://schemas.microsoft.com/office/powerpoint/2010/main" val="20812089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32692C-5E3F-4662-903E-CD05D192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0AE1B-D9D6-4009-97DE-D62A87D7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AC9F1-DF7F-4A07-A5EF-AF6D02E9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Single-dataset models degrade when the network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F02FF-A4E7-4DF0-B889-0F1D78A4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The diagonal is strong; the off-diagonal exposes the deployment risk.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DC0BD-E2C0-476A-889A-7B1006D1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99026-FC52-4E94-9DE7-50704A7F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11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9262789D-52CF-46B8-82F5-3322A16067D4}"/>
              </a:ext>
            </a:extLst>
          </p:cNvPr>
          <p:cNvGraphicFramePr/>
          <p:nvPr/>
        </p:nvGraphicFramePr>
        <p:xfrm>
          <a:off xmlns:a="http://schemas.openxmlformats.org/drawingml/2006/main" x="476250" y="1714500"/>
          <a:ext xmlns:a="http://schemas.openxmlformats.org/drawingml/2006/main" cx="762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c668cb8e4f491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629DA-DE41-49D4-8861-570683E4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847A3-E19D-4ECF-B5E1-1C80C2B4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BAAD6-DEDA-4FE5-B5C8-C3002FA5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24075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2017 → 2018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7EC13-1F5E-4586-80B8-B194FCC0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24125"/>
            <a:ext cx="242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Attack recall falls to 0.442. The detector misses more than half of attacks in the target environment.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1E516-A983-4DEA-AF98-65E7D70E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67125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3E0360-F569-4E82-9C79-875CEE9D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671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E4C0D-1271-45E1-8C02-EA817B55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38575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2018 → 2017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441FA2-D2E7-4AD7-8DC1-3C56B168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38625"/>
            <a:ext cx="242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Attack recall is 0.683 and false-positive rate rises to 0.092.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AC75C-1EF1-4BA0-BBC5-1C76DBC6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FF7A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661A7B-F14B-47E6-8772-93B7843E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7A6E"/>
                </a:solidFill>
              </a:defRPr>
            </a:defPPr>
            <a:lvl1pPr>
              <a:defRPr sz="900" b="1">
                <a:solidFill>
                  <a:srgbClr val="FF7A6E"/>
                </a:solidFill>
              </a:defRPr>
            </a:lvl1pPr>
            <a:lvl2pPr>
              <a:defRPr sz="900" b="1">
                <a:solidFill>
                  <a:srgbClr val="FF7A6E"/>
                </a:solidFill>
              </a:defRPr>
            </a:lvl2pPr>
            <a:lvl3pPr>
              <a:defRPr sz="900" b="1">
                <a:solidFill>
                  <a:srgbClr val="FF7A6E"/>
                </a:solidFill>
              </a:defRPr>
            </a:lvl3pPr>
            <a:lvl4pPr>
              <a:defRPr sz="900" b="1">
                <a:solidFill>
                  <a:srgbClr val="FF7A6E"/>
                </a:solidFill>
              </a:defRPr>
            </a:lvl4pPr>
            <a:lvl5pPr>
              <a:defRPr sz="900" b="1">
                <a:solidFill>
                  <a:srgbClr val="FF7A6E"/>
                </a:solidFill>
              </a:defRPr>
            </a:lvl5pPr>
            <a:lvl6pPr>
              <a:defRPr sz="900" b="1">
                <a:solidFill>
                  <a:srgbClr val="FF7A6E"/>
                </a:solidFill>
              </a:defRPr>
            </a:lvl6pPr>
            <a:lvl7pPr>
              <a:defRPr sz="900" b="1">
                <a:solidFill>
                  <a:srgbClr val="FF7A6E"/>
                </a:solidFill>
              </a:defRPr>
            </a:lvl7pPr>
            <a:lvl8pPr>
              <a:defRPr sz="900" b="1">
                <a:solidFill>
                  <a:srgbClr val="FF7A6E"/>
                </a:solidFill>
              </a:defRPr>
            </a:lvl8pPr>
            <a:lvl9pPr>
              <a:defRPr sz="900" b="1">
                <a:solidFill>
                  <a:srgbClr val="FF7A6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7A6E"/>
                </a:solidFill>
              </a:defRPr>
            </a:pPr>
            <a:r>
              <a:rPr sz="900" b="1">
                <a:solidFill>
                  <a:srgbClr val="FF7A6E"/>
                </a:solidFill>
              </a:rPr>
              <a:t>TAKEAWAY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BCFA5-C643-4034-BCC3-825C045B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In-domain accuracy is not evidence of portability; environmental shift must be measured directly.</a:t>
            </a:r>
          </a:p>
        </p:txBody>
      </p:sp>
    </p:spTree>
    <p:extLst>
      <p:ext uri="{BB962C8B-B14F-4D97-AF65-F5344CB8AC3E}">
        <p14:creationId xmlns:p14="http://schemas.microsoft.com/office/powerpoint/2010/main" val="2944891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B5088-D1A6-4784-8583-7D19EB80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C8726-7133-4C36-A6AF-36EE0B3C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A79B3-CEB0-4960-A876-CBD256D3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Mixed-network training produces balanced performance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C9EC4-9061-42F8-B0F1-ADD35A00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Adding environmental diversity matters more than simply adding rows.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345A3-551F-4C00-A240-5930524D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3D1CD-D840-4C55-92D9-1FFF598E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12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CE9F8893-931C-4EBF-B84C-102B3D75F6D5}"/>
              </a:ext>
            </a:extLst>
          </p:cNvPr>
          <p:cNvGraphicFramePr/>
          <p:nvPr/>
        </p:nvGraphicFramePr>
        <p:xfrm>
          <a:off xmlns:a="http://schemas.openxmlformats.org/drawingml/2006/main" x="428625" y="1714500"/>
          <a:ext xmlns:a="http://schemas.openxmlformats.org/drawingml/2006/main" cx="7810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5046cbf61d427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17098-D355-4E42-9F89-25666BDA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14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Exact comparison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96D76-E004-4DF7-9040-06061DA2DB37}"/>
              </a:ext>
            </a:extLst>
          </p:cNvPr>
          <p:cNvGraphicFramePr/>
          <p:nvPr/>
        </p:nvGraphicFramePr>
        <p:xfrm>
          <a:off xmlns:a="http://schemas.openxmlformats.org/drawingml/2006/main" x="8429625" y="2047875"/>
          <a:ext xmlns:a="http://schemas.openxmlformats.org/drawingml/2006/main" cx="31432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762000"/>
                <a:gridCol w="619125"/>
                <a:gridCol w="619125"/>
              </a:tblGrid>
              <a:tr h="5143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Training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Rows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2017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2018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2017 only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268,654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0.990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0.694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2018 only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268,654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0.794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0.985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Mixed equal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268,654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0.962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0.967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Mixed expanded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537,308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0.963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0.967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24B55-EFD7-42B8-B2A7-A02ACE21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8101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A8BAC8"/>
                </a:solidFill>
              </a:defRPr>
            </a:defPPr>
            <a:lvl1pPr>
              <a:defRPr sz="900" b="0">
                <a:solidFill>
                  <a:srgbClr val="A8BAC8"/>
                </a:solidFill>
              </a:defRPr>
            </a:lvl1pPr>
            <a:lvl2pPr>
              <a:defRPr sz="900" b="0">
                <a:solidFill>
                  <a:srgbClr val="A8BAC8"/>
                </a:solidFill>
              </a:defRPr>
            </a:lvl2pPr>
            <a:lvl3pPr>
              <a:defRPr sz="900" b="0">
                <a:solidFill>
                  <a:srgbClr val="A8BAC8"/>
                </a:solidFill>
              </a:defRPr>
            </a:lvl3pPr>
            <a:lvl4pPr>
              <a:defRPr sz="900" b="0">
                <a:solidFill>
                  <a:srgbClr val="A8BAC8"/>
                </a:solidFill>
              </a:defRPr>
            </a:lvl4pPr>
            <a:lvl5pPr>
              <a:defRPr sz="900" b="0">
                <a:solidFill>
                  <a:srgbClr val="A8BAC8"/>
                </a:solidFill>
              </a:defRPr>
            </a:lvl5pPr>
            <a:lvl6pPr>
              <a:defRPr sz="900" b="0">
                <a:solidFill>
                  <a:srgbClr val="A8BAC8"/>
                </a:solidFill>
              </a:defRPr>
            </a:lvl6pPr>
            <a:lvl7pPr>
              <a:defRPr sz="900" b="0">
                <a:solidFill>
                  <a:srgbClr val="A8BAC8"/>
                </a:solidFill>
              </a:defRPr>
            </a:lvl7pPr>
            <a:lvl8pPr>
              <a:defRPr sz="900" b="0">
                <a:solidFill>
                  <a:srgbClr val="A8BAC8"/>
                </a:solidFill>
              </a:defRPr>
            </a:lvl8pPr>
            <a:lvl9pPr>
              <a:defRPr sz="900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A8BAC8"/>
                </a:solidFill>
              </a:defRPr>
            </a:pPr>
            <a:r>
              <a:rPr sz="900" b="0">
                <a:solidFill>
                  <a:srgbClr val="A8BAC8"/>
                </a:solidFill>
              </a:rPr>
              <a:t>Values are macro F1 on held-out test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EE651-C2AC-4A4A-A98D-D51C9718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D98BE-820E-4698-9B9F-B6E32956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C118A-35FD-49F6-8A7E-52C158F4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Both mixed strategies generalize well across the two known environments; more rows add only marginal gain.</a:t>
            </a:r>
          </a:p>
        </p:txBody>
      </p:sp>
    </p:spTree>
    <p:extLst>
      <p:ext uri="{BB962C8B-B14F-4D97-AF65-F5344CB8AC3E}">
        <p14:creationId xmlns:p14="http://schemas.microsoft.com/office/powerpoint/2010/main" val="17023099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607BC7-1F07-40C5-8C79-7E4A1FAC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BFE0A-179F-4468-8F64-C1B9F0A5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EC560-8E85-41DE-BCF2-F21461F1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The model should support triage, not autonomous blocking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69FD0-CC8F-4C93-B77B-12C26305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Operational value depends on recall, false alarms, latency, and analyst workflow together.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905DD-2AC4-4775-AE81-8325F76A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D6968-2722-4828-B2F8-35A92A95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E3FFB-76A1-48F2-AD17-8D844623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F8FD8-93E6-4B29-9B63-A3EB3050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70A67-FE71-4342-B2D3-F432CB39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What improves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C1DAA-D27D-460C-9520-C18EABF5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9051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Mixed training stabilizes performance across the two environments and preserves high attack recall.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00933-89E1-432D-BA5C-F1123059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F1514-8253-44B8-BA1E-0426E2A9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EDE588-E8C4-429C-B4D9-4BFF266F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335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What remains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85BEF-65B7-4BDA-BA1D-29985F2F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29051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Unknown networks, evolving attacks, label noise, adversarial behavior, and calibration are not solved by these experiments.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E8955-3379-42A0-B87E-5A76C6DC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3619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2D5BCC-CE7F-400D-822F-42223D57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04F10-F66B-431A-8D25-407A6D81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335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Recommended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4971FE-4CB8-4725-A722-5392CFA2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319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Start in shadow mode, tune site-specific thresholds, route evidence to the SIEM, and require human review for high-impact action.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DE6045-E995-4A73-B8DA-AA2D6392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CC488C-D1D9-4206-B17C-7D3F749A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73F032-2820-4663-ABE3-5E23F971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Treat predictions as risk signals with context, monitoring, and controlled response policies.</a:t>
            </a:r>
          </a:p>
        </p:txBody>
      </p:sp>
    </p:spTree>
    <p:extLst>
      <p:ext uri="{BB962C8B-B14F-4D97-AF65-F5344CB8AC3E}">
        <p14:creationId xmlns:p14="http://schemas.microsoft.com/office/powerpoint/2010/main" val="5291148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CD5A85B-8ADE-4C5B-AFEC-C9AD6C8C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A0E89-314F-4108-AFB3-C9E70CAC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315DE-5A49-4DA0-B272-63D2AAE8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A hybrid architecture balances latency, privacy, and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BD433-5D49-42F3-937F-5F336369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Raw sensitive traffic stays on site; governed summaries and model artifacts move centrally.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4A69B-731E-43BD-B38A-964735B2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BB4BE-E72E-4225-A800-F7D41CCB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1903C-1FD9-4058-8459-93C4EF50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9C7D8"/>
                </a:solidFill>
              </a:defRPr>
            </a:defPPr>
            <a:lvl1pPr>
              <a:defRPr sz="975" b="1">
                <a:solidFill>
                  <a:srgbClr val="29C7D8"/>
                </a:solidFill>
              </a:defRPr>
            </a:lvl1pPr>
            <a:lvl2pPr>
              <a:defRPr sz="975" b="1">
                <a:solidFill>
                  <a:srgbClr val="29C7D8"/>
                </a:solidFill>
              </a:defRPr>
            </a:lvl2pPr>
            <a:lvl3pPr>
              <a:defRPr sz="975" b="1">
                <a:solidFill>
                  <a:srgbClr val="29C7D8"/>
                </a:solidFill>
              </a:defRPr>
            </a:lvl3pPr>
            <a:lvl4pPr>
              <a:defRPr sz="975" b="1">
                <a:solidFill>
                  <a:srgbClr val="29C7D8"/>
                </a:solidFill>
              </a:defRPr>
            </a:lvl4pPr>
            <a:lvl5pPr>
              <a:defRPr sz="975" b="1">
                <a:solidFill>
                  <a:srgbClr val="29C7D8"/>
                </a:solidFill>
              </a:defRPr>
            </a:lvl5pPr>
            <a:lvl6pPr>
              <a:defRPr sz="975" b="1">
                <a:solidFill>
                  <a:srgbClr val="29C7D8"/>
                </a:solidFill>
              </a:defRPr>
            </a:lvl6pPr>
            <a:lvl7pPr>
              <a:defRPr sz="975" b="1">
                <a:solidFill>
                  <a:srgbClr val="29C7D8"/>
                </a:solidFill>
              </a:defRPr>
            </a:lvl7pPr>
            <a:lvl8pPr>
              <a:defRPr sz="975" b="1">
                <a:solidFill>
                  <a:srgbClr val="29C7D8"/>
                </a:solidFill>
              </a:defRPr>
            </a:lvl8pPr>
            <a:lvl9pPr>
              <a:defRPr sz="975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9C7D8"/>
                </a:solidFill>
              </a:defRPr>
            </a:pPr>
            <a:r>
              <a:rPr sz="975" b="1">
                <a:solidFill>
                  <a:srgbClr val="29C7D8"/>
                </a:solidFill>
              </a:rPr>
              <a:t>CUSTOMER SITE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8EB3A-7A89-4EF5-A65F-91F86EB0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668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2EC4A6"/>
                </a:solidFill>
              </a:defRPr>
            </a:defPPr>
            <a:lvl1pPr>
              <a:defRPr sz="975" b="1">
                <a:solidFill>
                  <a:srgbClr val="2EC4A6"/>
                </a:solidFill>
              </a:defRPr>
            </a:lvl1pPr>
            <a:lvl2pPr>
              <a:defRPr sz="975" b="1">
                <a:solidFill>
                  <a:srgbClr val="2EC4A6"/>
                </a:solidFill>
              </a:defRPr>
            </a:lvl2pPr>
            <a:lvl3pPr>
              <a:defRPr sz="975" b="1">
                <a:solidFill>
                  <a:srgbClr val="2EC4A6"/>
                </a:solidFill>
              </a:defRPr>
            </a:lvl3pPr>
            <a:lvl4pPr>
              <a:defRPr sz="975" b="1">
                <a:solidFill>
                  <a:srgbClr val="2EC4A6"/>
                </a:solidFill>
              </a:defRPr>
            </a:lvl4pPr>
            <a:lvl5pPr>
              <a:defRPr sz="975" b="1">
                <a:solidFill>
                  <a:srgbClr val="2EC4A6"/>
                </a:solidFill>
              </a:defRPr>
            </a:lvl5pPr>
            <a:lvl6pPr>
              <a:defRPr sz="975" b="1">
                <a:solidFill>
                  <a:srgbClr val="2EC4A6"/>
                </a:solidFill>
              </a:defRPr>
            </a:lvl6pPr>
            <a:lvl7pPr>
              <a:defRPr sz="975" b="1">
                <a:solidFill>
                  <a:srgbClr val="2EC4A6"/>
                </a:solidFill>
              </a:defRPr>
            </a:lvl7pPr>
            <a:lvl8pPr>
              <a:defRPr sz="975" b="1">
                <a:solidFill>
                  <a:srgbClr val="2EC4A6"/>
                </a:solidFill>
              </a:defRPr>
            </a:lvl8pPr>
            <a:lvl9pPr>
              <a:defRPr sz="975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EC4A6"/>
                </a:solidFill>
              </a:defRPr>
            </a:pPr>
            <a:r>
              <a:rPr sz="975" b="1">
                <a:solidFill>
                  <a:srgbClr val="2EC4A6"/>
                </a:solidFill>
              </a:rPr>
              <a:t>CENTRAL 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94F87-C53C-4D45-92C8-11CBFBB3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4476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0FB45-8708-43EF-8274-645FB380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68FE6-27E4-4E08-AF1E-8B8B610B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Flow sensors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934CC-54FA-4827-939E-A339C4A8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240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Zeek • Suricata • NetFlow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A18CE-1610-45C8-9346-AC959392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76525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A9839-94FB-4B66-B74D-D1F02C36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4320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97182-4B09-4AED-9191-96DE9C95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28925"/>
            <a:ext cx="4476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5FEDC5-0A12-4D45-9715-F44808BC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2892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AFA420-1EF1-4924-ABE4-8D2A9529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Feature pipeline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03D268-4349-4192-8C37-47EF3220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0512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Validate • transform • redact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794392-4D2E-4685-9838-62790527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57575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0BFD3E-2DE7-4324-9420-2655DE65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2425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F9299-A9FE-4537-8A3B-1C59F30F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9975"/>
            <a:ext cx="4476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38F86C-D5D5-46D4-8A15-93390ADA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997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C6507C-7BC0-4FC1-B12C-8D8EC33B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Local inference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46C40E-59F3-46D2-854D-231D3462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861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Low-latency scoring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FEB585-756F-4B29-A807-EADAD8EE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38625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777BDA-D151-4CD0-A46B-BF1A29CB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91EC11-CAC4-42C8-B315-3EB10929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4476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F6F9DD-F945-45C2-99FC-AA8A34B6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CFF80A-40E3-42F7-82EC-C377BA3D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SIEM + policy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9F8C2F-3189-4247-A609-CD884825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6722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Triage • response • feedback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145DDF-D3CD-46C2-8C97-14B7829D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4476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868EDB-2751-4752-8B99-32B40895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B03C30-4DF6-464C-ABF2-2DF3D7FD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24075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Privacy gateway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71166F-A59B-4D7D-BA0C-8FB221CD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240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Approved aggregates only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E07080-A86D-41F3-B00D-1D36561F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76525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4A7E52-8293-460B-B3EC-C286E42A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4320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472525-8C7D-4E9B-B829-2C3F0DA6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28925"/>
            <a:ext cx="4476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6A6945-BF97-4132-B10B-9207F5C9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2892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667A2E-B5EE-413A-877E-CF925482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05125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Training + registry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B6C0B1-D4A6-4D87-920E-276C5A7C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0512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Versioned data and models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1E33FE-63D2-406D-8381-2A3F3E10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57575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95B52A-5286-4C86-9692-7FD8275D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1B65BE-4563-4796-A2A9-249C3A1C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09975"/>
            <a:ext cx="4476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A91CEF-2F19-4A4F-A227-C1E4073D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0997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E20AC8-9774-4C6D-9C30-0651E707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86175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Monitoring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979F8F-74A1-4AAB-8973-1D22630A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861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Drift • performance • capacity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E4D4E6-519E-4FDA-AB1D-0BFF9CCF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38625"/>
            <a:ext cx="952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8C627A-FBCD-427D-B381-B1C3706B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0530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719CD7-6ECC-4C66-AAB3-34869C41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91025"/>
            <a:ext cx="4476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B105CE-45D6-4C84-9816-5E915D4C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9102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FE727B2-43B1-4E75-BCAA-BCD07899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67225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LLM assist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4F2804-C89E-4908-AA69-E13F4A9D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6722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Redacted evidence summaries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E4AFB6-D9B8-4FDF-8A54-0796CC18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81375"/>
            <a:ext cx="1905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B84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B73860-8731-48B9-9286-FECB4B76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1470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8C2F23C-923B-43C8-BB57-09F6C7F4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5B84B"/>
                </a:solidFill>
              </a:defRPr>
            </a:defPPr>
            <a:lvl1pPr>
              <a:defRPr sz="900" b="1">
                <a:solidFill>
                  <a:srgbClr val="F5B84B"/>
                </a:solidFill>
              </a:defRPr>
            </a:lvl1pPr>
            <a:lvl2pPr>
              <a:defRPr sz="900" b="1">
                <a:solidFill>
                  <a:srgbClr val="F5B84B"/>
                </a:solidFill>
              </a:defRPr>
            </a:lvl2pPr>
            <a:lvl3pPr>
              <a:defRPr sz="900" b="1">
                <a:solidFill>
                  <a:srgbClr val="F5B84B"/>
                </a:solidFill>
              </a:defRPr>
            </a:lvl3pPr>
            <a:lvl4pPr>
              <a:defRPr sz="900" b="1">
                <a:solidFill>
                  <a:srgbClr val="F5B84B"/>
                </a:solidFill>
              </a:defRPr>
            </a:lvl4pPr>
            <a:lvl5pPr>
              <a:defRPr sz="900" b="1">
                <a:solidFill>
                  <a:srgbClr val="F5B84B"/>
                </a:solidFill>
              </a:defRPr>
            </a:lvl5pPr>
            <a:lvl6pPr>
              <a:defRPr sz="900" b="1">
                <a:solidFill>
                  <a:srgbClr val="F5B84B"/>
                </a:solidFill>
              </a:defRPr>
            </a:lvl6pPr>
            <a:lvl7pPr>
              <a:defRPr sz="900" b="1">
                <a:solidFill>
                  <a:srgbClr val="F5B84B"/>
                </a:solidFill>
              </a:defRPr>
            </a:lvl7pPr>
            <a:lvl8pPr>
              <a:defRPr sz="900" b="1">
                <a:solidFill>
                  <a:srgbClr val="F5B84B"/>
                </a:solidFill>
              </a:defRPr>
            </a:lvl8pPr>
            <a:lvl9pPr>
              <a:defRPr sz="900" b="1">
                <a:solidFill>
                  <a:srgbClr val="F5B84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5B84B"/>
                </a:solidFill>
              </a:defRPr>
            </a:pPr>
            <a:r>
              <a:rPr sz="900" b="1">
                <a:solidFill>
                  <a:srgbClr val="F5B84B"/>
                </a:solidFill>
              </a:rPr>
              <a:t>telemetry + feedback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3BCE302-A2C1-4F90-8971-4278EBF8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38625"/>
            <a:ext cx="1905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C7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071A6B4-7678-4097-80E0-FC2014C8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7195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0BFFA50-F3E4-424E-8F85-CD468FF1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signed model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593C550-BACC-42FD-BEC3-834459CD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B605B90-58D5-4F64-AE5E-1DDBB53E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CB12609-F7C9-4EFA-890D-F22A4AA9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Edge inference protects privacy and latency; the central plane coordinates learning and governance.</a:t>
            </a:r>
          </a:p>
        </p:txBody>
      </p:sp>
    </p:spTree>
    <p:extLst>
      <p:ext uri="{BB962C8B-B14F-4D97-AF65-F5344CB8AC3E}">
        <p14:creationId xmlns:p14="http://schemas.microsoft.com/office/powerpoint/2010/main" val="6750455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83313C-5A43-4C04-AF56-3E2627AB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2659D-F495-48E3-BE95-9D35C64C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21310-E86A-4E7D-A1EC-490B1C40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The key result is about diversity, not just model complexity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4B17D-1677-4197-8F14-B20FBC8E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The project now has an evidence-based path from EDA to deployment experimentation.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FFBCF-CE98-4FED-B352-271C1E99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5F392-5ACD-4559-95CB-89F10DFC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49FD8-74BC-4E60-B01A-45B7C4AC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8AC86-70AA-4290-A1F1-F3125B18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A43A2-4174-4EC4-8BDC-FC64BD8F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1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A8671-8D63-4CE0-9355-349E36E8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9051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Class imbalance, heavy tails, lab shortcuts, and cross-year drift make robust evaluation essential.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A6F05-E80E-450E-AF0D-A09B1933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6D013-FDF2-4631-A5D3-E789CC3D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96567-AD2A-4045-82E1-AE1DE83C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335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2 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59825-8171-4590-9AA5-8C39F885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29051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Single-network models transfer poorly. Mixed-network training gives the best balance across both known datasets.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B57F64-527F-48F9-B4AD-58704DF1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3619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7897C5-382E-4BB4-AF61-9772EC4D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FA36D-98CA-43EE-ABFE-883A4A0D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335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3  Next step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19D6C7-7BDA-43B5-BE2E-5D453FDE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319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Validate on a third or live environment, calibrate thresholds, run shadow deployment, and monitor drift and alert burden.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91A46-CF84-41BB-8BF1-BD21B336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B03B58-5DDA-4DD2-9D7C-E293C2EC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49FF62-3B10-49C2-9B64-117962D2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Recommended direction: mixed-environment training with local inference and governed continuous improvement.</a:t>
            </a:r>
          </a:p>
        </p:txBody>
      </p:sp>
    </p:spTree>
    <p:extLst>
      <p:ext uri="{BB962C8B-B14F-4D97-AF65-F5344CB8AC3E}">
        <p14:creationId xmlns:p14="http://schemas.microsoft.com/office/powerpoint/2010/main" val="15387901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35F374-778C-4F3D-BC5F-496F28A9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D895A-DB1F-48D2-8C8A-9B57040E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4E9B2-D7DC-4BE6-96D5-1BD5677B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Appendix: dataset and split details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D5F7C-9194-49C6-9F66-E9886AB1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Technical context for reproducibility and interpretation.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696A2-BE5E-4E78-964F-ACDA1F2C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7E0F7-01DB-47E4-BE33-26DBCE21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DB33A-1444-4701-8EB4-07FB0681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4D26D-B2EE-4CD6-8ACB-8EBE0F08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DED48-0297-4415-9E10-4C44DEF0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2017 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B1EA7C-A467-4A0D-BAEE-0C414567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90512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~2.10M flows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5 files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75.36% benign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91 raw columns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Chronological split for time robustness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D6EFB-C92B-4DD4-B199-615D39F5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3333750" cy="34290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B21B9-7E1B-4A5F-9EFC-C5719DB2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63BBC-2823-4131-BB21-C11BBE78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859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2018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33A83-2249-4F54-8B1F-6BA6587B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86000"/>
            <a:ext cx="290512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~63.20M flows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10 files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93.92% benign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91 raw columns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378,952-row modeling sample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8F7E1-36C6-4B92-A82E-C5C70B2E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3619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67741-22C4-4682-B439-522CAF8D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666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26A61-66F2-43DD-9342-16CF50BD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8595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Experiment controls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F3570-AE70-4127-A2BE-7F77CFB2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31908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Shared numeric intersection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Binary benign/attack target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Fixed random state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Macro F1 for imbalance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Attack recall + FPR for operations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0A51E-907F-4A3C-91C6-D0694B3B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E36CD-5A5D-4104-A292-B9174DEC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8C203B-5D15-483A-9C24-80691CFB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Data files are downloaded separately and are intentionally not stored in the repository.</a:t>
            </a:r>
          </a:p>
        </p:txBody>
      </p:sp>
    </p:spTree>
    <p:extLst>
      <p:ext uri="{BB962C8B-B14F-4D97-AF65-F5344CB8AC3E}">
        <p14:creationId xmlns:p14="http://schemas.microsoft.com/office/powerpoint/2010/main" val="2813316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DACE9-FB5D-4622-AAAA-6F9E72EE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F7738-6359-4503-96E5-6453ED32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B7949-3204-456B-8796-B1CE9AB6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Appendix: transfer quality is visible in recall and false alarms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BBD19-36C7-4453-A5D5-26DCB75E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Macro F1 alone does not show the operational failure mode.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3A3B1-B638-40D1-A6CE-EE11D0DA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CEC2D-0613-4AE2-A490-53082881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17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A92745DE-CDC1-4B4C-A840-0BEB1BF69282}"/>
              </a:ext>
            </a:extLst>
          </p:cNvPr>
          <p:cNvGraphicFramePr/>
          <p:nvPr/>
        </p:nvGraphicFramePr>
        <p:xfrm>
          <a:off xmlns:a="http://schemas.openxmlformats.org/drawingml/2006/main" x="476250" y="1714500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d830716e8547b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76ED6-C495-48CE-985E-871E0DF0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7145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Operational comparison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D65AB-DAA4-4095-ABC4-53B454F58CA2}"/>
              </a:ext>
            </a:extLst>
          </p:cNvPr>
          <p:cNvGraphicFramePr/>
          <p:nvPr/>
        </p:nvGraphicFramePr>
        <p:xfrm>
          <a:off xmlns:a="http://schemas.openxmlformats.org/drawingml/2006/main" x="7429500" y="2047875"/>
          <a:ext xmlns:a="http://schemas.openxmlformats.org/drawingml/2006/main" cx="3810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952500"/>
                <a:gridCol w="952500"/>
              </a:tblGrid>
              <a:tr h="4490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Train / test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Recall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9C7D8"/>
                          </a:solidFill>
                        </a:rPr>
                        <a:t>FPR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T w="9525">
                      <a:solidFill>
                        <a:srgbClr val="27465C"/>
                      </a:solidFill>
                      <a:prstDash val="solid"/>
                    </a:lnT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23047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2017 / 2017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0.991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0.006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2017 / 2018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0.442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0.049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2018 / 2017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0.683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0.092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2018 / 2018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0.984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0.014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Mixed / 2017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0.987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0.030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0E2638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Mixed / 2018</a:t>
                      </a:r>
                    </a:p>
                  </a:txBody>
                  <a:tcPr marL="76200" marR="76200" marT="47625" marB="47625" anchor="ctr" horzOverflow="clip">
                    <a:lnL w="9525">
                      <a:solidFill>
                        <a:srgbClr val="27465C"/>
                      </a:solidFill>
                      <a:prstDash val="solid"/>
                    </a:lnL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0.978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F5F8FA"/>
                          </a:solidFill>
                        </a:rPr>
                        <a:t>0.039</a:t>
                      </a:r>
                    </a:p>
                  </a:txBody>
                  <a:tcPr marL="76200" marR="76200" marT="47625" marB="47625" anchor="ctr" horzOverflow="clip">
                    <a:lnR w="9525">
                      <a:solidFill>
                        <a:srgbClr val="27465C"/>
                      </a:solidFill>
                      <a:prstDash val="solid"/>
                    </a:lnR>
                    <a:lnB w="9525">
                      <a:solidFill>
                        <a:srgbClr val="27465C"/>
                      </a:solidFill>
                      <a:prstDash val="solid"/>
                    </a:lnB>
                    <a:solidFill>
                      <a:srgbClr val="102B3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0D68A-A8DF-4F56-A05A-4ACDA907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7B48F-3C12-4707-BF57-7BED4DF9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E3D6F-6E9E-4996-893F-69891C09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Mixed expanded training keeps recall above 0.977 and FPR below 0.040 on both known test sets.</a:t>
            </a:r>
          </a:p>
        </p:txBody>
      </p:sp>
    </p:spTree>
    <p:extLst>
      <p:ext uri="{BB962C8B-B14F-4D97-AF65-F5344CB8AC3E}">
        <p14:creationId xmlns:p14="http://schemas.microsoft.com/office/powerpoint/2010/main" val="19654908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F569AB-4FBA-4758-BE81-ACC7B5EF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4FE31-0300-4B87-A8AE-1F641442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9AC7E-5514-48B1-BB47-1BF68822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Appendix: technology components map to lifecycle needs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ACADD-0BF6-45A0-A1FC-379F3810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A modular stack supports an incremental path from prototype to production.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FF0C0-79CC-496A-BBA1-E2D50D87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C4C30-F0E8-46CC-880F-D03E5749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9ED29-F76F-4671-BB36-4F541551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5095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3BC25-A4F9-472F-A4ED-24AF91AB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AB525-974F-4B66-9FCD-2F79A73C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Collect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29F7D-70F6-484D-A8EA-A3C611F5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7907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Zeek • Suricata • NetFlow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0706E-5793-4C3E-8952-9ABE5912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5095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63D93-42FA-4521-A624-DE7B821A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E3ACE-76BD-4096-9738-4FD1F808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907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Stream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808A00-FC49-4826-8657-991A6DED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907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Kafka / Redpanda • Flink later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6861C-E003-460F-ADB3-691CEAF8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5095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4CB32-5288-430E-9C4D-7F833AFC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F810D-F41E-4593-A5FD-B288F8AE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432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Store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B49DD5-C080-4057-9101-6F197292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432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Parquet • S3/MinIO • PostgreSQL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B51A1F-32ED-43C4-A92E-16594D99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5095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EF1F0C-68DD-4654-A752-C84F57FD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03BAC7-6E41-4828-964A-F065D52D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432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Train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3D7B9B-920B-4886-8B1B-F6C82BA3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432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scikit-learn • LightGBM • MLflow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A0B3ED-1F39-4254-A3C6-7D43B7E1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5095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76910D-6123-434D-A0F9-426E248A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5BE773-EEF7-479B-981D-08504E82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957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Serve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9FC37A-D17F-442C-BECE-FFD14C25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6957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ONNX Runtime • FastAPI/gRPC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C0868C-F836-4C67-BD76-A2A65BFC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5095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28525B-A467-4F7A-8B98-9F4AF82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DDCDB2-5CC3-4AD7-AF58-CD0182C4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957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Observe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8609B4-6D3D-4241-912A-FCA9EFB5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957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Prometheus • Grafana • OpenTelemetry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DBCAED-4964-48B3-A3EA-906292D7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5095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A9D856-6643-4729-B45A-3094A6B0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EFC620-33DF-473D-93FA-F755A3B0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482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Integrate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1C326E-B225-4104-A345-D0B02938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482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Splunk • Sentinel • Elastic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A912AA-447E-4425-82B9-C9676F21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72000"/>
            <a:ext cx="509587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95D03B-B249-4129-B52B-3A8373AB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720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38CBBE-5FB0-4F04-B20F-DF1F47BB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48200"/>
            <a:ext cx="157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F5F8FA"/>
                </a:solidFill>
              </a:defRPr>
            </a:defPPr>
            <a:lvl1pPr>
              <a:defRPr sz="1200" b="1">
                <a:solidFill>
                  <a:srgbClr val="F5F8FA"/>
                </a:solidFill>
              </a:defRPr>
            </a:lvl1pPr>
            <a:lvl2pPr>
              <a:defRPr sz="1200" b="1">
                <a:solidFill>
                  <a:srgbClr val="F5F8FA"/>
                </a:solidFill>
              </a:defRPr>
            </a:lvl2pPr>
            <a:lvl3pPr>
              <a:defRPr sz="1200" b="1">
                <a:solidFill>
                  <a:srgbClr val="F5F8FA"/>
                </a:solidFill>
              </a:defRPr>
            </a:lvl3pPr>
            <a:lvl4pPr>
              <a:defRPr sz="1200" b="1">
                <a:solidFill>
                  <a:srgbClr val="F5F8FA"/>
                </a:solidFill>
              </a:defRPr>
            </a:lvl4pPr>
            <a:lvl5pPr>
              <a:defRPr sz="1200" b="1">
                <a:solidFill>
                  <a:srgbClr val="F5F8FA"/>
                </a:solidFill>
              </a:defRPr>
            </a:lvl5pPr>
            <a:lvl6pPr>
              <a:defRPr sz="1200" b="1">
                <a:solidFill>
                  <a:srgbClr val="F5F8FA"/>
                </a:solidFill>
              </a:defRPr>
            </a:lvl6pPr>
            <a:lvl7pPr>
              <a:defRPr sz="1200" b="1">
                <a:solidFill>
                  <a:srgbClr val="F5F8FA"/>
                </a:solidFill>
              </a:defRPr>
            </a:lvl7pPr>
            <a:lvl8pPr>
              <a:defRPr sz="1200" b="1">
                <a:solidFill>
                  <a:srgbClr val="F5F8FA"/>
                </a:solidFill>
              </a:defRPr>
            </a:lvl8pPr>
            <a:lvl9pPr>
              <a:defRPr sz="120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5F8FA"/>
                </a:solidFill>
              </a:defRPr>
            </a:pPr>
            <a:r>
              <a:rPr sz="1200" b="1">
                <a:solidFill>
                  <a:srgbClr val="F5F8FA"/>
                </a:solidFill>
              </a:rPr>
              <a:t>Secure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768FB1-3BD3-41A4-8873-2A7A9030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482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A8BAC8"/>
                </a:solidFill>
              </a:defRPr>
            </a:defPPr>
            <a:lvl1pPr>
              <a:defRPr sz="975" b="0">
                <a:solidFill>
                  <a:srgbClr val="A8BAC8"/>
                </a:solidFill>
              </a:defRPr>
            </a:lvl1pPr>
            <a:lvl2pPr>
              <a:defRPr sz="975" b="0">
                <a:solidFill>
                  <a:srgbClr val="A8BAC8"/>
                </a:solidFill>
              </a:defRPr>
            </a:lvl2pPr>
            <a:lvl3pPr>
              <a:defRPr sz="975" b="0">
                <a:solidFill>
                  <a:srgbClr val="A8BAC8"/>
                </a:solidFill>
              </a:defRPr>
            </a:lvl3pPr>
            <a:lvl4pPr>
              <a:defRPr sz="975" b="0">
                <a:solidFill>
                  <a:srgbClr val="A8BAC8"/>
                </a:solidFill>
              </a:defRPr>
            </a:lvl4pPr>
            <a:lvl5pPr>
              <a:defRPr sz="975" b="0">
                <a:solidFill>
                  <a:srgbClr val="A8BAC8"/>
                </a:solidFill>
              </a:defRPr>
            </a:lvl5pPr>
            <a:lvl6pPr>
              <a:defRPr sz="975" b="0">
                <a:solidFill>
                  <a:srgbClr val="A8BAC8"/>
                </a:solidFill>
              </a:defRPr>
            </a:lvl6pPr>
            <a:lvl7pPr>
              <a:defRPr sz="975" b="0">
                <a:solidFill>
                  <a:srgbClr val="A8BAC8"/>
                </a:solidFill>
              </a:defRPr>
            </a:lvl7pPr>
            <a:lvl8pPr>
              <a:defRPr sz="975" b="0">
                <a:solidFill>
                  <a:srgbClr val="A8BAC8"/>
                </a:solidFill>
              </a:defRPr>
            </a:lvl8pPr>
            <a:lvl9pPr>
              <a:defRPr sz="9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8BAC8"/>
                </a:solidFill>
              </a:defRPr>
            </a:pPr>
            <a:r>
              <a:rPr sz="975" b="0">
                <a:solidFill>
                  <a:srgbClr val="A8BAC8"/>
                </a:solidFill>
              </a:rPr>
              <a:t>Vault/KMS • OPA • Cosign • mTLS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9432C6-6214-4F51-8357-32666ED1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6D454B-D2FA-410D-8F7E-7C7EE89A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97B7BF-DAC0-4A2A-BA45-13A9AF13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Start with the smallest viable stack, then add streaming and orchestration as volume and latency demand it.</a:t>
            </a:r>
          </a:p>
        </p:txBody>
      </p:sp>
    </p:spTree>
    <p:extLst>
      <p:ext uri="{BB962C8B-B14F-4D97-AF65-F5344CB8AC3E}">
        <p14:creationId xmlns:p14="http://schemas.microsoft.com/office/powerpoint/2010/main" val="16462960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07FA74-250C-48C2-9691-8279FCA4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46561-31B7-4826-98EE-279A435D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30A15-E3E1-4502-96F3-BF99E446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Appendix: MLOps, AIOps, and SecOps close different loops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1BCEB-CAA9-43E9-8D89-52E81A58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Production reliability needs model, platform, and analyst feedback to work together.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6D925-F658-4C31-9233-10676FC6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50560-0FFE-480E-899D-2E5BA7ED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4FD04-0874-4F37-890B-A69CF68F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8C9B7-E69A-4F94-A49E-BC82130D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42D74-4601-468F-B72F-CB73BBF6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MLOps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E7395-6FD9-4689-9EE0-497E6EE3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9051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Data and model lineage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Validation gates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Registry and rollout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Drift and performance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0B62A-0809-4874-99D8-B7B9CEBD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891F2-4FC5-4291-950A-86AD76FF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C7F92-380E-46AF-BBB0-8DF81AED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335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AIOps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390B0-EE8A-4F29-AB71-FB0B629B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29051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Pipeline and service health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Event correlation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Capacity and latency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Automated recovery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796D7-9242-4211-BE2E-D284C967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3619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FCCCF-FDB0-46DE-8BD6-B04CEF3D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B42A9-96F5-4AD8-AAFE-C5FD092E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335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SecOps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29591E-656D-48A0-9008-F3CF2493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319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Alert investigation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Incident response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Reviewed labels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Policy and threat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003264-FAB0-4DEE-86DC-AAF2CD88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33750"/>
            <a:ext cx="23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AE65C3-B6C4-456B-B08E-9EB0A521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670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82F783-1436-4DE4-9D05-1064054A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238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F777B7-EF72-4BF0-930B-4B82573E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670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746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C39C30-38C0-4949-BE98-BCC0CE06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8DD996-5930-4266-9D62-1F8F28D9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2913DA-700F-4942-A90A-1DB8FE6C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The continuous-learning loop is only trustworthy when analyst feedback is reviewed and governed.</a:t>
            </a:r>
          </a:p>
        </p:txBody>
      </p:sp>
    </p:spTree>
    <p:extLst>
      <p:ext uri="{BB962C8B-B14F-4D97-AF65-F5344CB8AC3E}">
        <p14:creationId xmlns:p14="http://schemas.microsoft.com/office/powerpoint/2010/main" val="166191767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07D2FD-4792-4F98-9DDE-810B6712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E1E3E-C793-4267-BF6B-8A3CF568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9C7D8"/>
                </a:solidFill>
              </a:defRPr>
            </a:defPPr>
            <a:lvl1pPr>
              <a:defRPr sz="900" b="1">
                <a:solidFill>
                  <a:srgbClr val="29C7D8"/>
                </a:solidFill>
              </a:defRPr>
            </a:lvl1pPr>
            <a:lvl2pPr>
              <a:defRPr sz="900" b="1">
                <a:solidFill>
                  <a:srgbClr val="29C7D8"/>
                </a:solidFill>
              </a:defRPr>
            </a:lvl2pPr>
            <a:lvl3pPr>
              <a:defRPr sz="900" b="1">
                <a:solidFill>
                  <a:srgbClr val="29C7D8"/>
                </a:solidFill>
              </a:defRPr>
            </a:lvl3pPr>
            <a:lvl4pPr>
              <a:defRPr sz="900" b="1">
                <a:solidFill>
                  <a:srgbClr val="29C7D8"/>
                </a:solidFill>
              </a:defRPr>
            </a:lvl4pPr>
            <a:lvl5pPr>
              <a:defRPr sz="900" b="1">
                <a:solidFill>
                  <a:srgbClr val="29C7D8"/>
                </a:solidFill>
              </a:defRPr>
            </a:lvl5pPr>
            <a:lvl6pPr>
              <a:defRPr sz="900" b="1">
                <a:solidFill>
                  <a:srgbClr val="29C7D8"/>
                </a:solidFill>
              </a:defRPr>
            </a:lvl6pPr>
            <a:lvl7pPr>
              <a:defRPr sz="900" b="1">
                <a:solidFill>
                  <a:srgbClr val="29C7D8"/>
                </a:solidFill>
              </a:defRPr>
            </a:lvl7pPr>
            <a:lvl8pPr>
              <a:defRPr sz="900" b="1">
                <a:solidFill>
                  <a:srgbClr val="29C7D8"/>
                </a:solidFill>
              </a:defRPr>
            </a:lvl8pPr>
            <a:lvl9pPr>
              <a:defRPr sz="900" b="1">
                <a:solidFill>
                  <a:srgbClr val="29C7D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9C7D8"/>
                </a:solidFill>
              </a:defRPr>
            </a:pPr>
            <a:r>
              <a:rPr sz="900" b="1">
                <a:solidFill>
                  <a:srgbClr val="29C7D8"/>
                </a:solidFill>
              </a:rPr>
              <a:t>APPENDIX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2B68B-E00F-4FE1-8BB4-FA90BD84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5F8FA"/>
                </a:solidFill>
              </a:defRPr>
            </a:defPPr>
            <a:lvl1pPr>
              <a:defRPr sz="2550" b="1">
                <a:solidFill>
                  <a:srgbClr val="F5F8FA"/>
                </a:solidFill>
              </a:defRPr>
            </a:lvl1pPr>
            <a:lvl2pPr>
              <a:defRPr sz="2550" b="1">
                <a:solidFill>
                  <a:srgbClr val="F5F8FA"/>
                </a:solidFill>
              </a:defRPr>
            </a:lvl2pPr>
            <a:lvl3pPr>
              <a:defRPr sz="2550" b="1">
                <a:solidFill>
                  <a:srgbClr val="F5F8FA"/>
                </a:solidFill>
              </a:defRPr>
            </a:lvl3pPr>
            <a:lvl4pPr>
              <a:defRPr sz="2550" b="1">
                <a:solidFill>
                  <a:srgbClr val="F5F8FA"/>
                </a:solidFill>
              </a:defRPr>
            </a:lvl4pPr>
            <a:lvl5pPr>
              <a:defRPr sz="2550" b="1">
                <a:solidFill>
                  <a:srgbClr val="F5F8FA"/>
                </a:solidFill>
              </a:defRPr>
            </a:lvl5pPr>
            <a:lvl6pPr>
              <a:defRPr sz="2550" b="1">
                <a:solidFill>
                  <a:srgbClr val="F5F8FA"/>
                </a:solidFill>
              </a:defRPr>
            </a:lvl6pPr>
            <a:lvl7pPr>
              <a:defRPr sz="2550" b="1">
                <a:solidFill>
                  <a:srgbClr val="F5F8FA"/>
                </a:solidFill>
              </a:defRPr>
            </a:lvl7pPr>
            <a:lvl8pPr>
              <a:defRPr sz="2550" b="1">
                <a:solidFill>
                  <a:srgbClr val="F5F8FA"/>
                </a:solidFill>
              </a:defRPr>
            </a:lvl8pPr>
            <a:lvl9pPr>
              <a:defRPr sz="25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5F8FA"/>
                </a:solidFill>
              </a:defRPr>
            </a:pPr>
            <a:r>
              <a:rPr sz="2550" b="1">
                <a:solidFill>
                  <a:srgbClr val="F5F8FA"/>
                </a:solidFill>
              </a:rPr>
              <a:t>Appendix: limitations and responsible-use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01CF4-CD26-455F-AA5D-E4637451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A8BAC8"/>
                </a:solidFill>
              </a:defRPr>
            </a:defPPr>
            <a:lvl1pPr>
              <a:defRPr sz="1275" b="0">
                <a:solidFill>
                  <a:srgbClr val="A8BAC8"/>
                </a:solidFill>
              </a:defRPr>
            </a:lvl1pPr>
            <a:lvl2pPr>
              <a:defRPr sz="1275" b="0">
                <a:solidFill>
                  <a:srgbClr val="A8BAC8"/>
                </a:solidFill>
              </a:defRPr>
            </a:lvl2pPr>
            <a:lvl3pPr>
              <a:defRPr sz="1275" b="0">
                <a:solidFill>
                  <a:srgbClr val="A8BAC8"/>
                </a:solidFill>
              </a:defRPr>
            </a:lvl3pPr>
            <a:lvl4pPr>
              <a:defRPr sz="1275" b="0">
                <a:solidFill>
                  <a:srgbClr val="A8BAC8"/>
                </a:solidFill>
              </a:defRPr>
            </a:lvl4pPr>
            <a:lvl5pPr>
              <a:defRPr sz="1275" b="0">
                <a:solidFill>
                  <a:srgbClr val="A8BAC8"/>
                </a:solidFill>
              </a:defRPr>
            </a:lvl5pPr>
            <a:lvl6pPr>
              <a:defRPr sz="1275" b="0">
                <a:solidFill>
                  <a:srgbClr val="A8BAC8"/>
                </a:solidFill>
              </a:defRPr>
            </a:lvl6pPr>
            <a:lvl7pPr>
              <a:defRPr sz="1275" b="0">
                <a:solidFill>
                  <a:srgbClr val="A8BAC8"/>
                </a:solidFill>
              </a:defRPr>
            </a:lvl7pPr>
            <a:lvl8pPr>
              <a:defRPr sz="1275" b="0">
                <a:solidFill>
                  <a:srgbClr val="A8BAC8"/>
                </a:solidFill>
              </a:defRPr>
            </a:lvl8pPr>
            <a:lvl9pPr>
              <a:defRPr sz="127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BAC8"/>
                </a:solidFill>
              </a:defRPr>
            </a:pPr>
            <a:r>
              <a:rPr sz="1275" b="0">
                <a:solidFill>
                  <a:srgbClr val="A8BAC8"/>
                </a:solidFill>
              </a:rPr>
              <a:t>These boundaries define what the current evidence does and does not support.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6A348-4CF2-4663-A2F0-9C44D7A9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71600"/>
            <a:ext cx="1123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502C8-AB5C-46FC-9145-6ADB5827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A8BAC8"/>
                </a:solidFill>
              </a:defRPr>
            </a:defPPr>
            <a:lvl1pPr>
              <a:defRPr sz="900" b="1">
                <a:solidFill>
                  <a:srgbClr val="A8BAC8"/>
                </a:solidFill>
              </a:defRPr>
            </a:lvl1pPr>
            <a:lvl2pPr>
              <a:defRPr sz="900" b="1">
                <a:solidFill>
                  <a:srgbClr val="A8BAC8"/>
                </a:solidFill>
              </a:defRPr>
            </a:lvl2pPr>
            <a:lvl3pPr>
              <a:defRPr sz="900" b="1">
                <a:solidFill>
                  <a:srgbClr val="A8BAC8"/>
                </a:solidFill>
              </a:defRPr>
            </a:lvl3pPr>
            <a:lvl4pPr>
              <a:defRPr sz="900" b="1">
                <a:solidFill>
                  <a:srgbClr val="A8BAC8"/>
                </a:solidFill>
              </a:defRPr>
            </a:lvl4pPr>
            <a:lvl5pPr>
              <a:defRPr sz="900" b="1">
                <a:solidFill>
                  <a:srgbClr val="A8BAC8"/>
                </a:solidFill>
              </a:defRPr>
            </a:lvl5pPr>
            <a:lvl6pPr>
              <a:defRPr sz="900" b="1">
                <a:solidFill>
                  <a:srgbClr val="A8BAC8"/>
                </a:solidFill>
              </a:defRPr>
            </a:lvl6pPr>
            <a:lvl7pPr>
              <a:defRPr sz="900" b="1">
                <a:solidFill>
                  <a:srgbClr val="A8BAC8"/>
                </a:solidFill>
              </a:defRPr>
            </a:lvl7pPr>
            <a:lvl8pPr>
              <a:defRPr sz="900" b="1">
                <a:solidFill>
                  <a:srgbClr val="A8BAC8"/>
                </a:solidFill>
              </a:defRPr>
            </a:lvl8pPr>
            <a:lvl9pPr>
              <a:defRPr sz="900" b="1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A8BAC8"/>
                </a:solidFill>
              </a:defRPr>
            </a:pPr>
            <a:r>
              <a:rPr sz="900" b="1">
                <a:solidFill>
                  <a:srgbClr val="A8BAC8"/>
                </a:solidFill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AA78B-41BB-4218-9BBA-55429BB9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3333750" cy="347662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DF2A5-D645-4F80-A6FF-5825B2FF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666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163C7-5A9A-46CF-A321-9DAB4C60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Evidence limits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5A191-0C93-481A-AEB4-1AF0B4DC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9051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Two research datasets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Known lab conditions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No unseen third network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No adversarial validation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No live latency benchmark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49DF7-EB1C-4482-8124-99FE0BE8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3333750" cy="347662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CD897-6CF8-48B5-A571-3C16710E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666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C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C3680-5595-424E-A07C-77A61625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859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Privacy controls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0C64F-16F4-4D2D-8A7A-A34AA691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86000"/>
            <a:ext cx="29051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Local raw-data retention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Feature minimization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Redaction and aggregation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Encryption and access control</a:t>
            </a:r>
          </a:p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Governed retention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E32EE-53B1-4C9C-A297-357BE8BF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36195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0E2638"/>
          </a:solidFill>
          <a:ln xmlns:a="http://schemas.openxmlformats.org/drawingml/2006/main" w="9525">
            <a:solidFill>
              <a:srgbClr val="2746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33C370-DD52-4E8D-92F1-1D632B17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666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728B7C-5627-4E8B-BB82-B0AD3318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8595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5F8FA"/>
                </a:solidFill>
              </a:defRPr>
            </a:defPPr>
            <a:lvl1pPr>
              <a:defRPr sz="1350" b="1">
                <a:solidFill>
                  <a:srgbClr val="F5F8FA"/>
                </a:solidFill>
              </a:defRPr>
            </a:lvl1pPr>
            <a:lvl2pPr>
              <a:defRPr sz="1350" b="1">
                <a:solidFill>
                  <a:srgbClr val="F5F8FA"/>
                </a:solidFill>
              </a:defRPr>
            </a:lvl2pPr>
            <a:lvl3pPr>
              <a:defRPr sz="1350" b="1">
                <a:solidFill>
                  <a:srgbClr val="F5F8FA"/>
                </a:solidFill>
              </a:defRPr>
            </a:lvl3pPr>
            <a:lvl4pPr>
              <a:defRPr sz="1350" b="1">
                <a:solidFill>
                  <a:srgbClr val="F5F8FA"/>
                </a:solidFill>
              </a:defRPr>
            </a:lvl4pPr>
            <a:lvl5pPr>
              <a:defRPr sz="1350" b="1">
                <a:solidFill>
                  <a:srgbClr val="F5F8FA"/>
                </a:solidFill>
              </a:defRPr>
            </a:lvl5pPr>
            <a:lvl6pPr>
              <a:defRPr sz="1350" b="1">
                <a:solidFill>
                  <a:srgbClr val="F5F8FA"/>
                </a:solidFill>
              </a:defRPr>
            </a:lvl6pPr>
            <a:lvl7pPr>
              <a:defRPr sz="1350" b="1">
                <a:solidFill>
                  <a:srgbClr val="F5F8FA"/>
                </a:solidFill>
              </a:defRPr>
            </a:lvl7pPr>
            <a:lvl8pPr>
              <a:defRPr sz="1350" b="1">
                <a:solidFill>
                  <a:srgbClr val="F5F8FA"/>
                </a:solidFill>
              </a:defRPr>
            </a:lvl8pPr>
            <a:lvl9pPr>
              <a:defRPr sz="1350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F8FA"/>
                </a:solidFill>
              </a:defRPr>
            </a:pPr>
            <a:r>
              <a:rPr sz="1350" b="1">
                <a:solidFill>
                  <a:srgbClr val="F5F8FA"/>
                </a:solidFill>
              </a:rPr>
              <a:t>AI disclosure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F95C96-164F-4F43-A221-A69A2090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319087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A8BAC8"/>
                </a:solidFill>
              </a:defRPr>
            </a:defPPr>
            <a:lvl1pPr>
              <a:defRPr sz="1125" b="0">
                <a:solidFill>
                  <a:srgbClr val="A8BAC8"/>
                </a:solidFill>
              </a:defRPr>
            </a:lvl1pPr>
            <a:lvl2pPr>
              <a:defRPr sz="1125" b="0">
                <a:solidFill>
                  <a:srgbClr val="A8BAC8"/>
                </a:solidFill>
              </a:defRPr>
            </a:lvl2pPr>
            <a:lvl3pPr>
              <a:defRPr sz="1125" b="0">
                <a:solidFill>
                  <a:srgbClr val="A8BAC8"/>
                </a:solidFill>
              </a:defRPr>
            </a:lvl3pPr>
            <a:lvl4pPr>
              <a:defRPr sz="1125" b="0">
                <a:solidFill>
                  <a:srgbClr val="A8BAC8"/>
                </a:solidFill>
              </a:defRPr>
            </a:lvl4pPr>
            <a:lvl5pPr>
              <a:defRPr sz="1125" b="0">
                <a:solidFill>
                  <a:srgbClr val="A8BAC8"/>
                </a:solidFill>
              </a:defRPr>
            </a:lvl5pPr>
            <a:lvl6pPr>
              <a:defRPr sz="1125" b="0">
                <a:solidFill>
                  <a:srgbClr val="A8BAC8"/>
                </a:solidFill>
              </a:defRPr>
            </a:lvl6pPr>
            <a:lvl7pPr>
              <a:defRPr sz="1125" b="0">
                <a:solidFill>
                  <a:srgbClr val="A8BAC8"/>
                </a:solidFill>
              </a:defRPr>
            </a:lvl7pPr>
            <a:lvl8pPr>
              <a:defRPr sz="1125" b="0">
                <a:solidFill>
                  <a:srgbClr val="A8BAC8"/>
                </a:solidFill>
              </a:defRPr>
            </a:lvl8pPr>
            <a:lvl9pPr>
              <a:defRPr sz="1125" b="0">
                <a:solidFill>
                  <a:srgbClr val="A8BAC8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AC8"/>
                </a:solidFill>
              </a:defRPr>
            </a:pPr>
            <a:r>
              <a:rPr sz="1125" b="0">
                <a:solidFill>
                  <a:srgbClr val="A8BAC8"/>
                </a:solidFill>
              </a:rPr>
              <a:t>LLM assistance may support drafting, code generation, and documentation. Results must remain reproducible, reviewed, and attributed according to course policy.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075282-1239-48D1-B3EF-827018C5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1081087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2EC4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B48422-CE9C-481E-A25F-A41FBD4A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2EC4A6"/>
                </a:solidFill>
              </a:defRPr>
            </a:defPPr>
            <a:lvl1pPr>
              <a:defRPr sz="900" b="1">
                <a:solidFill>
                  <a:srgbClr val="2EC4A6"/>
                </a:solidFill>
              </a:defRPr>
            </a:lvl1pPr>
            <a:lvl2pPr>
              <a:defRPr sz="900" b="1">
                <a:solidFill>
                  <a:srgbClr val="2EC4A6"/>
                </a:solidFill>
              </a:defRPr>
            </a:lvl2pPr>
            <a:lvl3pPr>
              <a:defRPr sz="900" b="1">
                <a:solidFill>
                  <a:srgbClr val="2EC4A6"/>
                </a:solidFill>
              </a:defRPr>
            </a:lvl3pPr>
            <a:lvl4pPr>
              <a:defRPr sz="900" b="1">
                <a:solidFill>
                  <a:srgbClr val="2EC4A6"/>
                </a:solidFill>
              </a:defRPr>
            </a:lvl4pPr>
            <a:lvl5pPr>
              <a:defRPr sz="900" b="1">
                <a:solidFill>
                  <a:srgbClr val="2EC4A6"/>
                </a:solidFill>
              </a:defRPr>
            </a:lvl5pPr>
            <a:lvl6pPr>
              <a:defRPr sz="900" b="1">
                <a:solidFill>
                  <a:srgbClr val="2EC4A6"/>
                </a:solidFill>
              </a:defRPr>
            </a:lvl6pPr>
            <a:lvl7pPr>
              <a:defRPr sz="900" b="1">
                <a:solidFill>
                  <a:srgbClr val="2EC4A6"/>
                </a:solidFill>
              </a:defRPr>
            </a:lvl7pPr>
            <a:lvl8pPr>
              <a:defRPr sz="900" b="1">
                <a:solidFill>
                  <a:srgbClr val="2EC4A6"/>
                </a:solidFill>
              </a:defRPr>
            </a:lvl8pPr>
            <a:lvl9pPr>
              <a:defRPr sz="900" b="1">
                <a:solidFill>
                  <a:srgbClr val="2EC4A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EC4A6"/>
                </a:solidFill>
              </a:defRPr>
            </a:pPr>
            <a:r>
              <a:rPr sz="900" b="1">
                <a:solidFill>
                  <a:srgbClr val="2EC4A6"/>
                </a:solidFill>
              </a:rPr>
              <a:t>TAKEAWAY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B31384-C790-4B39-9206-32F16375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24550"/>
            <a:ext cx="938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F5F8FA"/>
                </a:solidFill>
              </a:defRPr>
            </a:defPPr>
            <a:lvl1pPr>
              <a:defRPr sz="1125" b="1">
                <a:solidFill>
                  <a:srgbClr val="F5F8FA"/>
                </a:solidFill>
              </a:defRPr>
            </a:lvl1pPr>
            <a:lvl2pPr>
              <a:defRPr sz="1125" b="1">
                <a:solidFill>
                  <a:srgbClr val="F5F8FA"/>
                </a:solidFill>
              </a:defRPr>
            </a:lvl2pPr>
            <a:lvl3pPr>
              <a:defRPr sz="1125" b="1">
                <a:solidFill>
                  <a:srgbClr val="F5F8FA"/>
                </a:solidFill>
              </a:defRPr>
            </a:lvl3pPr>
            <a:lvl4pPr>
              <a:defRPr sz="1125" b="1">
                <a:solidFill>
                  <a:srgbClr val="F5F8FA"/>
                </a:solidFill>
              </a:defRPr>
            </a:lvl4pPr>
            <a:lvl5pPr>
              <a:defRPr sz="1125" b="1">
                <a:solidFill>
                  <a:srgbClr val="F5F8FA"/>
                </a:solidFill>
              </a:defRPr>
            </a:lvl5pPr>
            <a:lvl6pPr>
              <a:defRPr sz="1125" b="1">
                <a:solidFill>
                  <a:srgbClr val="F5F8FA"/>
                </a:solidFill>
              </a:defRPr>
            </a:lvl6pPr>
            <a:lvl7pPr>
              <a:defRPr sz="1125" b="1">
                <a:solidFill>
                  <a:srgbClr val="F5F8FA"/>
                </a:solidFill>
              </a:defRPr>
            </a:lvl7pPr>
            <a:lvl8pPr>
              <a:defRPr sz="1125" b="1">
                <a:solidFill>
                  <a:srgbClr val="F5F8FA"/>
                </a:solidFill>
              </a:defRPr>
            </a:lvl8pPr>
            <a:lvl9pPr>
              <a:defRPr sz="1125" b="1">
                <a:solidFill>
                  <a:srgbClr val="F5F8F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5F8FA"/>
                </a:solidFill>
              </a:defRPr>
            </a:pPr>
            <a:r>
              <a:rPr sz="1125" b="1">
                <a:solidFill>
                  <a:srgbClr val="F5F8FA"/>
                </a:solidFill>
              </a:rPr>
              <a:t>The next proof point is a controlled shadow deployment on newer, independently collected traffic.</a:t>
            </a:r>
          </a:p>
        </p:txBody>
      </p:sp>
    </p:spTree>
    <p:extLst>
      <p:ext uri="{BB962C8B-B14F-4D97-AF65-F5344CB8AC3E}">
        <p14:creationId xmlns:p14="http://schemas.microsoft.com/office/powerpoint/2010/main" val="126731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2026-10-25T20:51:11.8710000Z</dcterms:created>
  <dcterms:modified xsi:type="dcterms:W3CDTF">2026-10-25T20:51:11.8710000Z</dcterms:modified>
</coreProperties>
</file>
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Cross-network ROC-AUC</c:v>
                </c:pt>
              </c:strCache>
            </c:strRef>
          </c:tx>
          <c:spPr>
            <a:solidFill>
              <a:srgbClr val="24605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 2017 → test 2018</c:v>
                  </c:pt>
                  <c:pt idx="1">
                    <c:v>Train 2018 → test 2017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0.807</c:v>
                </c:pt>
                <c:pt idx="1">
                  <c:v>0.94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3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on the new network</c:v>
                </c:pt>
              </c:strCache>
            </c:strRef>
          </c:tx>
          <c:spPr>
            <a:solidFill>
              <a:srgbClr val="B5670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A1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correction</c:v>
                  </c:pt>
                  <c:pt idx="1">
                    <c:v>Drop drifted features</c:v>
                  </c:pt>
                  <c:pt idx="2">
                    <c:v>Translate feature values</c:v>
                  </c:pt>
                  <c:pt idx="3">
                    <c:v>Retrain in rank space</c:v>
                  </c:pt>
                  <c:pt idx="4">
                    <c:v>Recalibrate threshold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0.119</c:v>
                </c:pt>
                <c:pt idx="1">
                  <c:v>0.091</c:v>
                </c:pt>
                <c:pt idx="2">
                  <c:v>0.073</c:v>
                </c:pt>
                <c:pt idx="3">
                  <c:v>0.072</c:v>
                </c:pt>
                <c:pt idx="4">
                  <c:v>0.921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50" u="none">
                  <a:solidFill>
                    <a:srgbClr val="1A1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B53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F7A4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Held-out
CICIDS2017</c:v>
                  </c:pt>
                  <c:pt idx="1">
                    <c:v>Held-out
CSE-CIC-IDS2018</c:v>
                  </c:pt>
                  <c:pt idx="2">
                    <c:v>Combined
test set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0.881</c:v>
                </c:pt>
                <c:pt idx="1">
                  <c:v>0.752</c:v>
                </c:pt>
                <c:pt idx="2">
                  <c:v>0.848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B53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40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12700">
            <a:solidFill>
              <a:srgbClr val="1D4E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12700">
            <a:solidFill>
              <a:srgbClr val="1D4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12700">
            <a:solidFill>
              <a:srgbClr val="1D4E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931920"/>
            <a:ext cx="12188952" cy="0"/>
          </a:xfrm>
          <a:prstGeom prst="line">
            <a:avLst/>
          </a:prstGeom>
          <a:noFill/>
          <a:ln w="12700">
            <a:solidFill>
              <a:srgbClr val="1D4E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12700">
            <a:solidFill>
              <a:srgbClr val="1D4E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· A GENERALIZATION STUDY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Generalization Gap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model that scored 99.9999% on its own network failed on a different one — and the nine experiments it took to understand why.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 •  CSE-CIC-IDS2018  •  ~65M flows analyzed  •  9 experiments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acts, one investigation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ML pipeline: clean data, train a model, evaluate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188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1188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model on a second, independent network — watch it fail.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B5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exactly what changed between the two networks, and why it mattered.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811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81160" y="3337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five different repairs. Learn which ones work — and which only look like they should.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computer to spot an intruder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two computers talk, that conversation can be summarized as a “flow” — who talked to whom, how long, how much data, how the connection opened and closed. A tool called CICFlowMeter turns raw traffic into one row per conversation, about 85 numbers describing its shape.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look at one of those rows and decide — should a security analyst be pulled in to review this? Get it wrong one way and real attacks slip through. Get it wrong the other way and analysts drown in false alarms.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→ Dst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2450592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24505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3163824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31638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sizes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3877056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87705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&amp; timing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4590288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DCEBE9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4590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85 columns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“flow” → one row of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networks, collected a year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CICIDS2017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147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38400" y="2606040"/>
            <a:ext cx="147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38400" y="3035808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08120" y="2606040"/>
            <a:ext cx="147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08120" y="3035808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4709160" cy="0"/>
          </a:xfrm>
          <a:prstGeom prst="line">
            <a:avLst/>
          </a:prstGeom>
          <a:noFill/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4904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network, one week. Each weekday runs a different attack: Mon benign · Tue password-guessing · Wed denial-of-service · Thu web attacks · Fri botnets &amp; scans.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CSE-CIC-IDS2018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147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035808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61960" y="2606040"/>
            <a:ext cx="147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61960" y="3035808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31680" y="2606040"/>
            <a:ext cx="147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GB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31680" y="3035808"/>
            <a:ext cx="147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size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4709160" cy="0"/>
          </a:xfrm>
          <a:prstGeom prst="line">
            <a:avLst/>
          </a:prstGeom>
          <a:noFill/>
          <a:ln w="12700">
            <a:solidFill>
              <a:srgbClr val="D9D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4904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different, larger network, captured across several weeks. Broader mix of days and attack tooling, collected roughly a year later.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“accuracy” is the wrong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a quarter of traffic is an attack, so a model that always says “benign” is already 75% “accurate” — and useless. We need two numbers instead, and they pull in opposite directions.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5E2D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3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real attack, how many did we catch?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 attack is dangerous — the real cost of getting this wrong.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0.90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3774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5E3C9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alert raised, how many were real?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39776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false alarms and analysts stop trusting the system.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≥ 0.85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D9DE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label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2903220"/>
            <a:ext cx="320040" cy="0"/>
          </a:xfrm>
          <a:prstGeom prst="line">
            <a:avLst/>
          </a:prstGeom>
          <a:noFill/>
          <a:ln w="19050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237744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D9DE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4320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903220"/>
            <a:ext cx="320040" cy="0"/>
          </a:xfrm>
          <a:prstGeom prst="line">
            <a:avLst/>
          </a:prstGeom>
          <a:noFill/>
          <a:ln w="19050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237744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3776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impute, scale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903220"/>
            <a:ext cx="320040" cy="0"/>
          </a:xfrm>
          <a:prstGeom prst="line">
            <a:avLst/>
          </a:prstGeom>
          <a:noFill/>
          <a:ln w="19050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32320" y="237744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D9DE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candidates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2903220"/>
            <a:ext cx="320040" cy="0"/>
          </a:xfrm>
          <a:prstGeom prst="line">
            <a:avLst/>
          </a:prstGeom>
          <a:noFill/>
          <a:ln w="19050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0" y="237744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24605F"/>
          </a:solidFill>
          <a:ln w="15240">
            <a:solidFill>
              <a:srgbClr val="2460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0" y="29443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test set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trained after the model choice is locked in — evaluated exactly once.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removed before training: source/destination IP, flow ID, timestamp, and a column that nearly encodes the answer directly — all dropped from the feature set.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OWN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result looked flawless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219456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D4E4C"/>
          </a:solidFill>
          <a:ln/>
        </p:spPr>
      </p:sp>
      <p:sp>
        <p:nvSpPr>
          <p:cNvPr id="5" name="Text 3"/>
          <p:cNvSpPr/>
          <p:nvPr/>
        </p:nvSpPr>
        <p:spPr>
          <a:xfrm>
            <a:off x="790956" y="2514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0.999999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90956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48556" y="219456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D4E4C"/>
          </a:solidFill>
          <a:ln/>
        </p:spPr>
      </p:sp>
      <p:sp>
        <p:nvSpPr>
          <p:cNvPr id="8" name="Text 6"/>
          <p:cNvSpPr/>
          <p:nvPr/>
        </p:nvSpPr>
        <p:spPr>
          <a:xfrm>
            <a:off x="4448556" y="2514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48556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6156" y="219456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D4E4C"/>
          </a:solidFill>
          <a:ln/>
        </p:spPr>
      </p:sp>
      <p:sp>
        <p:nvSpPr>
          <p:cNvPr id="11" name="Text 9"/>
          <p:cNvSpPr/>
          <p:nvPr/>
        </p:nvSpPr>
        <p:spPr>
          <a:xfrm>
            <a:off x="8106156" y="2514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06156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only on CICIDS2017. A random forest beat logistic regression, gradient boosting, and a majority-class baseline by a wide margin in cross-validation.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GUT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perfect score is a prompt to dig, not a finish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scores 100% on every practice test from one textbook might genuinely understand the material — or might have memorized the answer key. Two well-documented properties of this benchmark made memorization a real risk: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traffic bursts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tools fire near-identical flows within seconds — some “unseen” test rows are faint echoes of training rows.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69748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feature dominates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46520" y="35204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feature importance: the top signal used only 10% of the model's attention. Ruled out an obvious shortcut — but not the deeper issue.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real test: try the model on a second, independent network.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model, different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its own 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0.9999994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4983480"/>
            <a:ext cx="2112264" cy="292608"/>
          </a:xfrm>
          <a:prstGeom prst="roundRect">
            <a:avLst>
              <a:gd name="adj" fmla="val 50000"/>
            </a:avLst>
          </a:prstGeom>
          <a:solidFill>
            <a:srgbClr val="E1EFE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974336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flawless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CSE-CIC-IDS2018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63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63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63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0.119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46520" y="4983480"/>
            <a:ext cx="1728216" cy="292608"/>
          </a:xfrm>
          <a:prstGeom prst="roundRect">
            <a:avLst>
              <a:gd name="adj" fmla="val 50000"/>
            </a:avLst>
          </a:prstGeom>
          <a:solidFill>
            <a:srgbClr val="F5E2D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97433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apart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fell from 0.85 to 0.12 — roughly 7 in 8 alerts on the new network would have been false alarms.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BOTH DIRECTIONS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real — and asymmetric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21031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CSE-CIC-IDS2018 spans ten captures across several weeks; CICIDS2017 is one network for one week. A model trained on the broader, more varied capture transferred outward far better than the reverse — forced to learn what “suspicious” means in general, not just at one site.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exactly what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Stability Index (PSI) measures how much one measurement's distribution has shifted between two datasets. Below 0.1: no real change. Above 0.2: investigate.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95728"/>
            <a:ext cx="21031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84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 severe drift (PSI &gt; 0.2) between the two networks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(PSI)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55480" y="2286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633472"/>
            <a:ext cx="8366760" cy="0"/>
          </a:xfrm>
          <a:prstGeom prst="line">
            <a:avLst/>
          </a:prstGeom>
          <a:noFill/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 Flag Count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55480" y="287121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E1EFE4"/>
          </a:solidFill>
          <a:ln/>
        </p:spPr>
      </p:sp>
      <p:sp>
        <p:nvSpPr>
          <p:cNvPr id="17" name="Text 15"/>
          <p:cNvSpPr/>
          <p:nvPr/>
        </p:nvSpPr>
        <p:spPr>
          <a:xfrm>
            <a:off x="9555480" y="286207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3310128"/>
            <a:ext cx="8366760" cy="0"/>
          </a:xfrm>
          <a:prstGeom prst="line">
            <a:avLst/>
          </a:prstGeom>
          <a:noFill/>
          <a:ln w="9525">
            <a:solidFill>
              <a:srgbClr val="D9DE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Init Win Bytes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364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55480" y="3493008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F5E2DE"/>
          </a:solidFill>
          <a:ln/>
        </p:spPr>
      </p:sp>
      <p:sp>
        <p:nvSpPr>
          <p:cNvPr id="23" name="Text 21"/>
          <p:cNvSpPr/>
          <p:nvPr/>
        </p:nvSpPr>
        <p:spPr>
          <a:xfrm>
            <a:off x="9555480" y="3483864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931920"/>
            <a:ext cx="8366760" cy="0"/>
          </a:xfrm>
          <a:prstGeom prst="line">
            <a:avLst/>
          </a:prstGeom>
          <a:noFill/>
          <a:ln w="9525">
            <a:solidFill>
              <a:srgbClr val="D9D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9867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986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83880" y="39867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55480" y="41148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5E3C9"/>
          </a:solidFill>
          <a:ln/>
        </p:spPr>
      </p:sp>
      <p:sp>
        <p:nvSpPr>
          <p:cNvPr id="29" name="Text 27"/>
          <p:cNvSpPr/>
          <p:nvPr/>
        </p:nvSpPr>
        <p:spPr>
          <a:xfrm>
            <a:off x="9555480" y="41056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drift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4553712"/>
            <a:ext cx="8366760" cy="0"/>
          </a:xfrm>
          <a:prstGeom prst="line">
            <a:avLst/>
          </a:prstGeom>
          <a:noFill/>
          <a:ln w="9525">
            <a:solidFill>
              <a:srgbClr val="D9DE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46085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Flag Count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608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6085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55480" y="473659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F5E2DE"/>
          </a:solidFill>
          <a:ln/>
        </p:spPr>
      </p:sp>
      <p:sp>
        <p:nvSpPr>
          <p:cNvPr id="35" name="Text 33"/>
          <p:cNvSpPr/>
          <p:nvPr/>
        </p:nvSpPr>
        <p:spPr>
          <a:xfrm>
            <a:off x="9555480" y="472744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top-trusted signal was stable across networks — but its second-most-trusted signal (TCP window size) wasn't: ~29,200 in CICIDS2017 (a Windows default) vs. ~8,192 in CSE-CIC-IDS2018 (a Linux default).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FIXES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repairs to a frozen model — three failed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953244" y="1600200"/>
            <a:ext cx="0" cy="3977640"/>
          </a:xfrm>
          <a:prstGeom prst="line">
            <a:avLst/>
          </a:prstGeom>
          <a:noFill/>
          <a:ln w="15875">
            <a:solidFill>
              <a:srgbClr val="A6392A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9450324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0.85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fix failed for a different reason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5E2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7393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1460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drifted features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760720" y="1645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drifted feature isn’t automatically useless — removing 35–50 of them threw away real signal along with the instability.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972800" cy="0"/>
          </a:xfrm>
          <a:prstGeom prst="line">
            <a:avLst/>
          </a:prstGeom>
          <a:noFill/>
          <a:ln w="9525">
            <a:solidFill>
              <a:srgbClr val="D9DE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34640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5E2D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2549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feature values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760720" y="2697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each measurement’s scale in isolation, but disturbed the combinations of features the model’s decision rules actually depend 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10972800" cy="0"/>
          </a:xfrm>
          <a:prstGeom prst="line">
            <a:avLst/>
          </a:prstGeom>
          <a:noFill/>
          <a:ln w="9525">
            <a:solidFill>
              <a:srgbClr val="D9DE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886200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5E2D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705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Retraining in rank space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760720" y="3749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theoretically cleaner idea scored below the simpler fix — compressing values to “just rank” lost information the model relied 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10972800" cy="0"/>
          </a:xfrm>
          <a:prstGeom prst="line">
            <a:avLst/>
          </a:prstGeom>
          <a:noFill/>
          <a:ln w="9525">
            <a:solidFill>
              <a:srgbClr val="D9DE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937760"/>
            <a:ext cx="1728216" cy="292608"/>
          </a:xfrm>
          <a:prstGeom prst="roundRect">
            <a:avLst>
              <a:gd name="adj" fmla="val 50000"/>
            </a:avLst>
          </a:prstGeom>
          <a:solidFill>
            <a:srgbClr val="F5E3C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2861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14600" y="4818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Recalibrating the threshold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760720" y="4800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fix that worked — precision 0.12 → 0.92, no retraining needed. Trade-off: recall dropped to 0.10.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on both networks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patching a model that only ever saw one network, we trained one random forest on the combined training data from both — then tested it on a held-out slice of each, separately.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3172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2331720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F5E3C9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0" y="2560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caveat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0" y="3017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the same kind of test as the cross-network checks — the model did see CSE-CIC-IDS2018 traffic in training, just not these exact rows.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shows: if you have labeled data from every network you’ll deploy to, one combined model can serve them all. It says nothing about a genuinely new, unseen network.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investigation,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2876" y="15544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6403F"/>
          </a:solidFill>
          <a:ln/>
        </p:spPr>
      </p:sp>
      <p:sp>
        <p:nvSpPr>
          <p:cNvPr id="5" name="Text 3"/>
          <p:cNvSpPr/>
          <p:nvPr/>
        </p:nvSpPr>
        <p:spPr>
          <a:xfrm>
            <a:off x="4722876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Network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25146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E1EFE4"/>
          </a:solidFill>
          <a:ln w="12700">
            <a:solidFill>
              <a:srgbClr val="2F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514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1.000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0" y="25146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5E2DE"/>
          </a:solidFill>
          <a:ln w="12700">
            <a:solidFill>
              <a:srgbClr val="A639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514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network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A6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0.807, precision 0.12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2926080" y="2194560"/>
            <a:ext cx="2619756" cy="320040"/>
          </a:xfrm>
          <a:prstGeom prst="line">
            <a:avLst/>
          </a:prstGeom>
          <a:noFill/>
          <a:ln w="12700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43116" y="2194560"/>
            <a:ext cx="2592324" cy="320040"/>
          </a:xfrm>
          <a:prstGeom prst="line">
            <a:avLst/>
          </a:prstGeom>
          <a:noFill/>
          <a:ln w="12700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6696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A639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2185416" y="3291840"/>
            <a:ext cx="7050024" cy="64008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02736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A639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4791456" y="3291840"/>
            <a:ext cx="4443984" cy="64008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A639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7397496" y="3291840"/>
            <a:ext cx="1837944" cy="64008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14816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B567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3291840"/>
            <a:ext cx="768096" cy="64008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82796" y="51663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6403F"/>
          </a:solidFill>
          <a:ln/>
        </p:spPr>
      </p:sp>
      <p:sp>
        <p:nvSpPr>
          <p:cNvPr id="25" name="Text 23"/>
          <p:cNvSpPr/>
          <p:nvPr/>
        </p:nvSpPr>
        <p:spPr>
          <a:xfrm>
            <a:off x="4082796" y="51663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BOTH networks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0.88 / 0.75 — the fix that worked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H="1">
            <a:off x="6094476" y="3291840"/>
            <a:ext cx="3140964" cy="1874520"/>
          </a:xfrm>
          <a:prstGeom prst="line">
            <a:avLst/>
          </a:prstGeom>
          <a:noFill/>
          <a:ln w="17780">
            <a:solidFill>
              <a:srgbClr val="B5670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274320" cy="274320"/>
          </a:xfrm>
          <a:prstGeom prst="ellipse">
            <a:avLst/>
          </a:prstGeom>
          <a:solidFill>
            <a:srgbClr val="DCEB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6367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near-perfect score is a prompt to investigate, not a finish 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274320" cy="274320"/>
          </a:xfrm>
          <a:prstGeom prst="ellipse">
            <a:avLst/>
          </a:prstGeom>
          <a:solidFill>
            <a:srgbClr val="DCEB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41401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precision move independently — a single “accuracy” number hides which one is in trouble.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274320" cy="274320"/>
          </a:xfrm>
          <a:prstGeom prst="ellipse">
            <a:avLst/>
          </a:prstGeom>
          <a:solidFill>
            <a:srgbClr val="DCEBE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19125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drift explains a mechanism, not a verdict — only check what the model actually relies 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746504"/>
            <a:ext cx="274320" cy="274320"/>
          </a:xfrm>
          <a:prstGeom prst="ellipse">
            <a:avLst/>
          </a:prstGeom>
          <a:solidFill>
            <a:srgbClr val="DCEBE9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6367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theoretically cleaner fix isn’t automatically the better one; test, don’t assume.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523744"/>
            <a:ext cx="274320" cy="274320"/>
          </a:xfrm>
          <a:prstGeom prst="ellipse">
            <a:avLst/>
          </a:prstGeom>
          <a:solidFill>
            <a:srgbClr val="DCEBE9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41401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cheap fix (recalibrate a threshold) before the expensive one (re-engineer every feature).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300984"/>
            <a:ext cx="274320" cy="274320"/>
          </a:xfrm>
          <a:prstGeom prst="ellipse">
            <a:avLst/>
          </a:prstGeom>
          <a:solidFill>
            <a:srgbClr val="DCEBE9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19125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reliable fix for “doesn’t work somewhere new” is data from that somewhere — not a cleverer algorithm.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12700">
            <a:solidFill>
              <a:srgbClr val="D9D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third-network test exists yet • hyperparameters were not tuned • rare attack categories (as few as 11 examples) remain a blind spot • real attacker behavior evolves — any production use needs an explicit retraining policy.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write-up, code, and every experiment report: reports/whitepaper.html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Generalization Gap</dc:title>
  <dc:subject>PptxGenJS Presentation</dc:subject>
  <dc:creator>IDS-ML Project</dc:creator>
  <cp:lastModifiedBy>IDS-ML Project</cp:lastModifiedBy>
  <cp:revision>1</cp:revision>
  <dcterms:created xsi:type="dcterms:W3CDTF">2026-08-22T20:29:38Z</dcterms:created>
  <dcterms:modified xsi:type="dcterms:W3CDTF">2026-08-22T20:29:38Z</dcterms:modified>
</cp:coreProperties>
</file>